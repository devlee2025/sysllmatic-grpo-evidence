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61feae6c48435d" /><Relationship Type="http://schemas.openxmlformats.org/officeDocument/2006/relationships/extended-properties" Target="/docProps/app.xml" Id="Re5c1bf0d7028402c" /><Relationship Type="http://schemas.openxmlformats.org/officeDocument/2006/relationships/officeDocument" Target="/ppt/presentation.xml" Id="R9ccc4a4694f4405c" /></Relationships>
</file>

<file path=ppt/presentation.xml><?xml version="1.0" encoding="utf-8"?>
<p:presentation xmlns:p="http://schemas.openxmlformats.org/presentationml/2006/main">
  <p:sldMasterIdLst>
    <p:sldMasterId xmlns:r="http://schemas.openxmlformats.org/officeDocument/2006/relationships" id="2147483648" r:id="R247e3c5c5f6a468c"/>
  </p:sldMasterIdLst>
  <p:notesMasterIdLst>
    <p:notesMasterId xmlns:r="http://schemas.openxmlformats.org/officeDocument/2006/relationships" r:id="R2d8c4105362c490e"/>
  </p:notesMasterIdLst>
  <p:sldIdLst>
    <p:sldId xmlns:r="http://schemas.openxmlformats.org/officeDocument/2006/relationships" id="256" r:id="R5eb650f7b9334379"/>
    <p:sldId xmlns:r="http://schemas.openxmlformats.org/officeDocument/2006/relationships" id="257" r:id="R96084957e0864a88"/>
    <p:sldId xmlns:r="http://schemas.openxmlformats.org/officeDocument/2006/relationships" id="258" r:id="R41231fb9ae1448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31cd66241b49b0" /><Relationship Type="http://schemas.openxmlformats.org/officeDocument/2006/relationships/slideMaster" Target="/ppt/slideMasters/slideMaster1.xml" Id="R247e3c5c5f6a468c" /><Relationship Type="http://schemas.openxmlformats.org/officeDocument/2006/relationships/notesMaster" Target="/ppt/notesMasters/notesMaster1.xml" Id="R2d8c4105362c490e" /><Relationship Type="http://schemas.openxmlformats.org/officeDocument/2006/relationships/presProps" Target="/ppt/presProps.xml" Id="Rcc6149d366a24297" /><Relationship Type="http://schemas.openxmlformats.org/officeDocument/2006/relationships/tableStyles" Target="/ppt/tableStyles.xml" Id="Rc7a3ff79fe6145aa" /><Relationship Type="http://schemas.openxmlformats.org/officeDocument/2006/relationships/slide" Target="/ppt/slides/slide1.xml" Id="R5eb650f7b9334379" /><Relationship Type="http://schemas.openxmlformats.org/officeDocument/2006/relationships/slide" Target="/ppt/slides/slide2.xml" Id="R96084957e0864a88" /><Relationship Type="http://schemas.openxmlformats.org/officeDocument/2006/relationships/slide" Target="/ppt/slides/slide3.xml" Id="R41231fb9ae1448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b17fe9844644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882de02efc450e" /><Relationship Type="http://schemas.openxmlformats.org/officeDocument/2006/relationships/notesMaster" Target="/ppt/notesMasters/notesMaster1.xml" Id="R0324da6e8b7c4e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8f57754cce4ab6" /><Relationship Type="http://schemas.openxmlformats.org/officeDocument/2006/relationships/notesMaster" Target="/ppt/notesMasters/notesMaster1.xml" Id="R4fea05dc01cf40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9907c18cda49b8" /><Relationship Type="http://schemas.openxmlformats.org/officeDocument/2006/relationships/notesMaster" Target="/ppt/notesMasters/notesMaster1.xml" Id="Rc4575a9032e44c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speaker notes (about 1 minute 20 seconds)</a:t>
            </a:r>
          </a:p>
          <a:p xmlns:a="http://schemas.openxmlformats.org/drawingml/2006/main">
            <a:r>
              <a:t/>
            </a:r>
          </a:p>
          <a:p xmlns:a="http://schemas.openxmlformats.org/drawingml/2006/main">
            <a:r>
              <a:t>The research question is whether execution-based reinforcement learning can teach an open-weight model reusable coordination strategies for multi-GPU kernels, then transfer those strategies to held-out workloads. The controlled comparison uses verified imitation, online execution RL, and test-time refinement without weight updates. Every condition should use the same starting checkpoint, tasks, and execution budget.</a:t>
            </a:r>
          </a:p>
          <a:p xmlns:a="http://schemas.openxmlformats.org/drawingml/2006/main">
            <a:r>
              <a:t/>
            </a:r>
          </a:p>
          <a:p xmlns:a="http://schemas.openxmlformats.org/drawingml/2006/main">
            <a:r>
              <a:t>The last few days produced infrastructure progress. We reviewed the SysLLMatic repository, the prior project report, and the related code optimization and RL literature, then framed the research question, baseline comparison, and feasibility gate.</a:t>
            </a:r>
          </a:p>
          <a:p xmlns:a="http://schemas.openxmlformats.org/drawingml/2006/main">
            <a:r>
              <a:t/>
            </a:r>
          </a:p>
          <a:p xmlns:a="http://schemas.openxmlformats.org/drawingml/2006/main">
            <a:r>
              <a:t>The local CPU preflight passed with TRL 1.14.1. A tiny public Qwen test checkpoint produced grouped completions, a nonzero synthetic probe-reward variance, a LoRA parameter update, checkpoint save and reload, and generation after reload. The model did not solve the arithmetic task, and the probe reward was deliberately synthetic. This validates the GRPO plumbing only.</a:t>
            </a:r>
          </a:p>
          <a:p xmlns:a="http://schemas.openxmlformats.org/drawingml/2006/main">
            <a:r>
              <a:t/>
            </a:r>
          </a:p>
          <a:p xmlns:a="http://schemas.openxmlformats.org/drawingml/2006/main">
            <a:r>
              <a:t>Purdue Scholar access is confirmed on one NVIDIA A40 with 46,068 MiB. The five-step Qwen2.5-0.5B A40 runner is prepared but has not run. We therefore have no GPU training result and no optimization result.</a:t>
            </a:r>
          </a:p>
          <a:p xmlns:a="http://schemas.openxmlformats.org/drawingml/2006/main">
            <a:r>
              <a:t/>
            </a:r>
          </a:p>
          <a:p xmlns:a="http://schemas.openxmlformats.org/drawingml/2006/main">
            <a:r>
              <a:t>Sources: experiments/grpo_smoke/results/20261004T205029Z_cpu_preflight/REPORT.md; experiments/grpo_smoke/run_scholar_gpu.sh; docs/RL_Subteam_MultiGPU_Feasibility_Deliverable.md.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speaker notes (about 1 minute 30 seconds)</a:t>
            </a:r>
          </a:p>
          <a:p xmlns:a="http://schemas.openxmlformats.org/drawingml/2006/main">
            <a:r>
              <a:t/>
            </a:r>
          </a:p>
          <a:p xmlns:a="http://schemas.openxmlformats.org/drawingml/2006/main">
            <a:r>
              <a:t>These are current workstreams, not confirmed ownership assignments. The October 5 team document contains updates for Srrey and Amr, and it contains no Manas update, so this slide does not infer one.</a:t>
            </a:r>
          </a:p>
          <a:p xmlns:a="http://schemas.openxmlformats.org/drawingml/2006/main">
            <a:r>
              <a:t/>
            </a:r>
          </a:p>
          <a:p xmlns:a="http://schemas.openxmlformats.org/drawingml/2006/main">
            <a:r>
              <a:t>Srrey framed the multi-GPU optimization research question, baseline comparisons, and initial feasibility test. That gives the team a concrete pilot, while a working evaluator, compatible multi-GPU access, measured throughput, implementation owners, and realistic time commitments remain open.</a:t>
            </a:r>
          </a:p>
          <a:p xmlns:a="http://schemas.openxmlformats.org/drawingml/2006/main">
            <a:r>
              <a:t/>
            </a:r>
          </a:p>
          <a:p xmlns:a="http://schemas.openxmlformats.org/drawingml/2006/main">
            <a:r>
              <a:t>Amr reviewed the ParallelKernelBench task format and Appendix F. His draft protocol separates compilation failures, runtime errors, timeouts, incorrect outputs, and correct-but-slow outcomes. The proposed A/B comparison starts from the same candidate and holds the model, tasks, and attempt limit constant while only one condition receives execution feedback. Per-attempt records include correctness, failure category, candidate and reference runtime, generation time, evaluation time, and revision history. Performance comparisons include only correct solutions.</a:t>
            </a:r>
          </a:p>
          <a:p xmlns:a="http://schemas.openxmlformats.org/drawingml/2006/main">
            <a:r>
              <a:t/>
            </a:r>
          </a:p>
          <a:p xmlns:a="http://schemas.openxmlformats.org/drawingml/2006/main">
            <a:r>
              <a:t>Amr also checked one Scholar Spark NVIDIA GB10 node with Arm architecture, CUDA compiler 13.1, and Conda. PyTorch was unavailable in the active environment, so successful GPU execution remains unverified, and one GPU cannot validate PKB's multi-GPU workflow.</a:t>
            </a:r>
          </a:p>
          <a:p xmlns:a="http://schemas.openxmlformats.org/drawingml/2006/main">
            <a:r>
              <a:t/>
            </a:r>
          </a:p>
          <a:p xmlns:a="http://schemas.openxmlformats.org/drawingml/2006/main">
            <a:r>
              <a:t>Andre's reproducible CPU GRPO plumbing passed, and the single-GPU Scholar A40 path is confirmed. These checks reduce setup uncertainty without establishing an optimization result.</a:t>
            </a:r>
          </a:p>
          <a:p xmlns:a="http://schemas.openxmlformats.org/drawingml/2006/main">
            <a:r>
              <a:t/>
            </a:r>
          </a:p>
          <a:p xmlns:a="http://schemas.openxmlformats.org/drawingml/2006/main">
            <a:r>
              <a:t>Local source: C:\Users\andre\Desktop\Andre\School\2026-2027\Semester 3\VIP 27920\October5.pdf,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speaker notes (about 2 minutes)</a:t>
            </a:r>
          </a:p>
          <a:p xmlns:a="http://schemas.openxmlformats.org/drawingml/2006/main">
            <a:r>
              <a:t/>
            </a:r>
          </a:p>
          <a:p xmlns:a="http://schemas.openxmlformats.org/drawingml/2006/main">
            <a:r>
              <a:t>These milestones are proposals. The team and instructor still need to confirm the dates, the people responsible for each task, and realistic weekly time commitments.</a:t>
            </a:r>
          </a:p>
          <a:p xmlns:a="http://schemas.openxmlformats.org/drawingml/2006/main">
            <a:r>
              <a:t/>
            </a:r>
          </a:p>
          <a:p xmlns:a="http://schemas.openxmlformats.org/drawingml/2006/main">
            <a:r>
              <a:t>By November 1, the proposed deliverable is a working evaluation pilot on a small compatible ParallelKernelBench subset. The evaluator should check every rank for correctness, measure synchronized reference and candidate timing, enforce hard timeouts, terminate the full process group after hangs or crashes, and recover cleanly for the next attempt. It should also collect initial frozen-model results. If hardware access prevents execution, the deliverable should identify the specific blocker and establish a revised scope that can actually run.</a:t>
            </a:r>
          </a:p>
          <a:p xmlns:a="http://schemas.openxmlformats.org/drawingml/2006/main">
            <a:r>
              <a:t/>
            </a:r>
          </a:p>
          <a:p xmlns:a="http://schemas.openxmlformats.org/drawingml/2006/main">
            <a:r>
              <a:t>By December 1, the proposal calls for a controlled comparison of refinement with execution feedback against refinement without it. Both conditions should use the same model, starting candidates, tasks, and attempt budget. We should report correctness, speedups only among correct solutions, failure recovery, generation and evaluation time, and execution cost. Those measurements provide the go/no-go evidence for a small RL experiment.</a:t>
            </a:r>
          </a:p>
          <a:p xmlns:a="http://schemas.openxmlformats.org/drawingml/2006/main">
            <a:r>
              <a:t/>
            </a:r>
          </a:p>
          <a:p xmlns:a="http://schemas.openxmlformats.org/drawingml/2006/main">
            <a:r>
              <a:t>By December 15, the proposed final deliverable is a presentation and report with reproducible code, measured findings, limitations, and a clear recommendation on whether this RL direction warrants further work. Completing an RL training study remains conditional on the pilot and available resources.</a:t>
            </a:r>
          </a:p>
          <a:p xmlns:a="http://schemas.openxmlformats.org/drawingml/2006/main">
            <a:r>
              <a:t/>
            </a:r>
          </a:p>
          <a:p xmlns:a="http://schemas.openxmlformats.org/drawingml/2006/main">
            <a:r>
              <a:t>The decision rule is intentionally strict. We should run a small RL experiment only if the evaluator behaves reliably, the frozen model produces enough useful or partially successful trajectories, and measured throughput makes the experiment affordable. Otherwise, the responsible result is a documented blocker and a narrower executable study.</a:t>
            </a:r>
          </a:p>
          <a:p xmlns:a="http://schemas.openxmlformats.org/drawingml/2006/main">
            <a:r>
              <a:t/>
            </a:r>
          </a:p>
          <a:p xmlns:a="http://schemas.openxmlformats.org/drawingml/2006/main">
            <a:r>
              <a:t>Local source: C:\Users\andre\Desktop\Andre\School\2026-2027\Semester 3\VIP 27920\October5.pdf, pages 1–2. Additional project source: docs/RL_Subteam_MultiGPU_Feasibility_Deliverable.md.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53e519b87841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c453c0a8574d04" /><Relationship Type="http://schemas.openxmlformats.org/officeDocument/2006/relationships/slideLayout" Target="/ppt/slideLayouts/slideLayout1.xml" Id="R14dc4201db1a48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dc4201db1a48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1e96b5ab9e42c8" /><Relationship Type="http://schemas.openxmlformats.org/officeDocument/2006/relationships/notesSlide" Target="/ppt/notesSlides/notesSlide1.xml" Id="R6b8101eb5b364b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6da9d1bee44390" /><Relationship Type="http://schemas.openxmlformats.org/officeDocument/2006/relationships/notesSlide" Target="/ppt/notesSlides/notesSlide2.xml" Id="R2ba5a5d197634f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5db3a3bfb54ea2" /><Relationship Type="http://schemas.openxmlformats.org/officeDocument/2006/relationships/notesSlide" Target="/ppt/notesSlides/notesSlide3.xml" Id="Rbb7e4320ca514ab9"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92DA1B8-E68E-4756-AC4A-A3C47CC2C777}"/>
              </a:ext>
            </a:extLst>
          </p:cNvPr>
          <p:cNvSpPr>
            <a:spLocks xmlns:a="http://schemas.openxmlformats.org/drawingml/2006/main" noGrp="1"/>
          </p:cNvSpPr>
          <p:nvPr/>
        </p:nvSpPr>
        <p:spPr>
          <a:xfrm xmlns:a="http://schemas.openxmlformats.org/drawingml/2006/main">
            <a:off x="609600" y="2286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38" b="1">
                <a:solidFill>
                  <a:srgbClr val="8E6F3E"/>
                </a:solidFill>
                <a:latin typeface="Arial"/>
                <a:ea typeface="Arial"/>
                <a:cs typeface="Arial"/>
              </a:defRPr>
            </a:pPr>
            <a:r>
              <a:rPr sz="938" b="1">
                <a:solidFill>
                  <a:srgbClr val="8E6F3E"/>
                </a:solidFill>
                <a:latin typeface="Arial"/>
                <a:ea typeface="Arial"/>
                <a:cs typeface="Arial"/>
              </a:rPr>
              <a:t>PURDUE VIP  /  PRE-TRAINED MODELS</a:t>
            </a:r>
          </a:p>
        </p:txBody>
      </p:sp>
      <p:sp>
        <p:nvSpPr>
          <p:cNvPr id="2" name="">
            <a:extLst xmlns:a="http://schemas.openxmlformats.org/drawingml/2006/main">
              <a:ext uri="{FF2B5EF4-FFF2-40B4-BE49-F238E27FC236}">
                <a16:creationId xmlns:a16="http://schemas.microsoft.com/office/drawing/2014/main" id="{3676EE35-9D78-4906-93FC-5991756CAD1F}"/>
              </a:ext>
            </a:extLst>
          </p:cNvPr>
          <p:cNvSpPr>
            <a:spLocks xmlns:a="http://schemas.openxmlformats.org/drawingml/2006/main" noGrp="1"/>
          </p:cNvSpPr>
          <p:nvPr/>
        </p:nvSpPr>
        <p:spPr>
          <a:xfrm xmlns:a="http://schemas.openxmlformats.org/drawingml/2006/main">
            <a:off x="609600" y="5143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151515"/>
                </a:solidFill>
                <a:latin typeface="Arial"/>
                <a:ea typeface="Arial"/>
                <a:cs typeface="Arial"/>
              </a:defRPr>
            </a:pPr>
            <a:r>
              <a:rPr sz="3000" b="1">
                <a:solidFill>
                  <a:srgbClr val="151515"/>
                </a:solidFill>
                <a:latin typeface="Arial"/>
                <a:ea typeface="Arial"/>
                <a:cs typeface="Arial"/>
              </a:rPr>
              <a:t>Can RL learn reusable multi-GPU coordination?</a:t>
            </a:r>
          </a:p>
        </p:txBody>
      </p:sp>
      <p:sp>
        <p:nvSpPr>
          <p:cNvPr id="3" name="">
            <a:extLst xmlns:a="http://schemas.openxmlformats.org/drawingml/2006/main">
              <a:ext uri="{FF2B5EF4-FFF2-40B4-BE49-F238E27FC236}">
                <a16:creationId xmlns:a16="http://schemas.microsoft.com/office/drawing/2014/main" id="{C66E1100-EBCE-4C11-B7F5-7751D8829D59}"/>
              </a:ext>
            </a:extLst>
          </p:cNvPr>
          <p:cNvSpPr>
            <a:spLocks xmlns:a="http://schemas.openxmlformats.org/drawingml/2006/main" noGrp="1"/>
          </p:cNvSpPr>
          <p:nvPr/>
        </p:nvSpPr>
        <p:spPr>
          <a:xfrm xmlns:a="http://schemas.openxmlformats.org/drawingml/2006/main">
            <a:off x="11258550" y="5524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625E57"/>
                </a:solidFill>
                <a:latin typeface="Arial"/>
                <a:ea typeface="Arial"/>
                <a:cs typeface="Arial"/>
              </a:defRPr>
            </a:pPr>
            <a:r>
              <a:rPr sz="975" b="1">
                <a:solidFill>
                  <a:srgbClr val="625E5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70FF390-59BE-4EB2-AD04-345567AA833A}"/>
              </a:ext>
            </a:extLst>
          </p:cNvPr>
          <p:cNvSpPr>
            <a:spLocks xmlns:a="http://schemas.openxmlformats.org/drawingml/2006/main" noGrp="1"/>
          </p:cNvSpPr>
          <p:nvPr/>
        </p:nvSpPr>
        <p:spPr>
          <a:xfrm xmlns:a="http://schemas.openxmlformats.org/drawingml/2006/main">
            <a:off x="609600" y="1114425"/>
            <a:ext cx="11010900" cy="28575"/>
          </a:xfrm>
          <a:prstGeom xmlns:a="http://schemas.openxmlformats.org/drawingml/2006/main" prst="rect">
            <a:avLst/>
          </a:prstGeom>
          <a:solidFill xmlns:a="http://schemas.openxmlformats.org/drawingml/2006/main">
            <a:srgbClr val="CFB99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E7CA00C-9BEE-416D-B85C-4222F849E509}"/>
              </a:ext>
            </a:extLst>
          </p:cNvPr>
          <p:cNvSpPr>
            <a:spLocks xmlns:a="http://schemas.openxmlformats.org/drawingml/2006/main" noGrp="1"/>
          </p:cNvSpPr>
          <p:nvPr/>
        </p:nvSpPr>
        <p:spPr>
          <a:xfrm xmlns:a="http://schemas.openxmlformats.org/drawingml/2006/main">
            <a:off x="609600" y="1381125"/>
            <a:ext cx="11010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250" b="1">
                <a:solidFill>
                  <a:srgbClr val="8E6F3E"/>
                </a:solidFill>
                <a:latin typeface="Arial"/>
                <a:ea typeface="Arial"/>
                <a:cs typeface="Arial"/>
              </a:defRPr>
            </a:pPr>
            <a:r>
              <a:rPr sz="2250" b="1">
                <a:solidFill>
                  <a:srgbClr val="8E6F3E"/>
                </a:solidFill>
                <a:latin typeface="Arial"/>
                <a:ea typeface="Arial"/>
                <a:cs typeface="Arial"/>
              </a:rPr>
              <a:t>Transfer to held-out workloads.</a:t>
            </a:r>
          </a:p>
        </p:txBody>
      </p:sp>
      <p:sp>
        <p:nvSpPr>
          <p:cNvPr id="6" name="">
            <a:extLst xmlns:a="http://schemas.openxmlformats.org/drawingml/2006/main">
              <a:ext uri="{FF2B5EF4-FFF2-40B4-BE49-F238E27FC236}">
                <a16:creationId xmlns:a16="http://schemas.microsoft.com/office/drawing/2014/main" id="{E7C09793-A3CB-474A-AAD4-F2F81531E5E1}"/>
              </a:ext>
            </a:extLst>
          </p:cNvPr>
          <p:cNvSpPr>
            <a:spLocks xmlns:a="http://schemas.openxmlformats.org/drawingml/2006/main" noGrp="1"/>
          </p:cNvSpPr>
          <p:nvPr/>
        </p:nvSpPr>
        <p:spPr>
          <a:xfrm xmlns:a="http://schemas.openxmlformats.org/drawingml/2006/main">
            <a:off x="6096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8E6F3E"/>
                </a:solidFill>
                <a:latin typeface="Arial"/>
                <a:ea typeface="Arial"/>
                <a:cs typeface="Arial"/>
              </a:defRPr>
            </a:pPr>
            <a:r>
              <a:rPr sz="975" b="1">
                <a:solidFill>
                  <a:srgbClr val="8E6F3E"/>
                </a:solidFill>
                <a:latin typeface="Arial"/>
                <a:ea typeface="Arial"/>
                <a:cs typeface="Arial"/>
              </a:rPr>
              <a:t>CONTROLLED COMPARISON</a:t>
            </a:r>
          </a:p>
        </p:txBody>
      </p:sp>
      <p:sp>
        <p:nvSpPr>
          <p:cNvPr id="7" name="">
            <a:extLst xmlns:a="http://schemas.openxmlformats.org/drawingml/2006/main">
              <a:ext uri="{FF2B5EF4-FFF2-40B4-BE49-F238E27FC236}">
                <a16:creationId xmlns:a16="http://schemas.microsoft.com/office/drawing/2014/main" id="{04E4F93C-4AF1-4284-9011-2B7B670E72DE}"/>
              </a:ext>
            </a:extLst>
          </p:cNvPr>
          <p:cNvSpPr>
            <a:spLocks xmlns:a="http://schemas.openxmlformats.org/drawingml/2006/main" noGrp="1"/>
          </p:cNvSpPr>
          <p:nvPr/>
        </p:nvSpPr>
        <p:spPr>
          <a:xfrm xmlns:a="http://schemas.openxmlformats.org/drawingml/2006/main">
            <a:off x="1428750" y="2781300"/>
            <a:ext cx="9334500" cy="38100"/>
          </a:xfrm>
          <a:prstGeom xmlns:a="http://schemas.openxmlformats.org/drawingml/2006/main" prst="rect">
            <a:avLst/>
          </a:prstGeom>
          <a:solidFill xmlns:a="http://schemas.openxmlformats.org/drawingml/2006/main">
            <a:srgbClr val="CFB99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8CF686D-BA59-4322-ACE8-6EEA3AEB55FD}"/>
              </a:ext>
            </a:extLst>
          </p:cNvPr>
          <p:cNvSpPr>
            <a:spLocks xmlns:a="http://schemas.openxmlformats.org/drawingml/2006/main" noGrp="1"/>
          </p:cNvSpPr>
          <p:nvPr/>
        </p:nvSpPr>
        <p:spPr>
          <a:xfrm xmlns:a="http://schemas.openxmlformats.org/drawingml/2006/main">
            <a:off x="2276475" y="2695575"/>
            <a:ext cx="209550" cy="209550"/>
          </a:xfrm>
          <a:prstGeom xmlns:a="http://schemas.openxmlformats.org/drawingml/2006/main" prst="ellipse">
            <a:avLst/>
          </a:prstGeom>
          <a:solidFill xmlns:a="http://schemas.openxmlformats.org/drawingml/2006/main">
            <a:srgbClr val="151515"/>
          </a:solidFill>
          <a:ln xmlns:a="http://schemas.openxmlformats.org/drawingml/2006/main" w="28575">
            <a:solidFill>
              <a:srgbClr val="CFB991"/>
            </a:solidFill>
            <a:prstDash val="solid"/>
          </a:ln>
        </p:spPr>
      </p:sp>
      <p:sp>
        <p:nvSpPr>
          <p:cNvPr id="9" name="">
            <a:extLst xmlns:a="http://schemas.openxmlformats.org/drawingml/2006/main">
              <a:ext uri="{FF2B5EF4-FFF2-40B4-BE49-F238E27FC236}">
                <a16:creationId xmlns:a16="http://schemas.microsoft.com/office/drawing/2014/main" id="{683F9CDB-5B9F-442A-AFEF-51D30FEB82C0}"/>
              </a:ext>
            </a:extLst>
          </p:cNvPr>
          <p:cNvSpPr>
            <a:spLocks xmlns:a="http://schemas.openxmlformats.org/drawingml/2006/main" noGrp="1"/>
          </p:cNvSpPr>
          <p:nvPr/>
        </p:nvSpPr>
        <p:spPr>
          <a:xfrm xmlns:a="http://schemas.openxmlformats.org/drawingml/2006/main">
            <a:off x="952500" y="23050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51515"/>
                </a:solidFill>
                <a:latin typeface="Arial"/>
                <a:ea typeface="Arial"/>
                <a:cs typeface="Arial"/>
              </a:defRPr>
            </a:pPr>
            <a:r>
              <a:rPr sz="1650" b="1">
                <a:solidFill>
                  <a:srgbClr val="151515"/>
                </a:solidFill>
                <a:latin typeface="Arial"/>
                <a:ea typeface="Arial"/>
                <a:cs typeface="Arial"/>
              </a:rPr>
              <a:t>Verified imitation</a:t>
            </a:r>
          </a:p>
        </p:txBody>
      </p:sp>
      <p:sp>
        <p:nvSpPr>
          <p:cNvPr id="10" name="">
            <a:extLst xmlns:a="http://schemas.openxmlformats.org/drawingml/2006/main">
              <a:ext uri="{FF2B5EF4-FFF2-40B4-BE49-F238E27FC236}">
                <a16:creationId xmlns:a16="http://schemas.microsoft.com/office/drawing/2014/main" id="{E0C03937-7793-4FAF-AF5D-CFCC2E2EDBD1}"/>
              </a:ext>
            </a:extLst>
          </p:cNvPr>
          <p:cNvSpPr>
            <a:spLocks xmlns:a="http://schemas.openxmlformats.org/drawingml/2006/main" noGrp="1"/>
          </p:cNvSpPr>
          <p:nvPr/>
        </p:nvSpPr>
        <p:spPr>
          <a:xfrm xmlns:a="http://schemas.openxmlformats.org/drawingml/2006/main">
            <a:off x="5991225" y="2695575"/>
            <a:ext cx="209550" cy="209550"/>
          </a:xfrm>
          <a:prstGeom xmlns:a="http://schemas.openxmlformats.org/drawingml/2006/main" prst="ellipse">
            <a:avLst/>
          </a:prstGeom>
          <a:solidFill xmlns:a="http://schemas.openxmlformats.org/drawingml/2006/main">
            <a:srgbClr val="151515"/>
          </a:solidFill>
          <a:ln xmlns:a="http://schemas.openxmlformats.org/drawingml/2006/main" w="28575">
            <a:solidFill>
              <a:srgbClr val="CFB991"/>
            </a:solidFill>
            <a:prstDash val="solid"/>
          </a:ln>
        </p:spPr>
      </p:sp>
      <p:sp>
        <p:nvSpPr>
          <p:cNvPr id="11" name="">
            <a:extLst xmlns:a="http://schemas.openxmlformats.org/drawingml/2006/main">
              <a:ext uri="{FF2B5EF4-FFF2-40B4-BE49-F238E27FC236}">
                <a16:creationId xmlns:a16="http://schemas.microsoft.com/office/drawing/2014/main" id="{F0E00ABB-9C4B-4523-8B2A-EDCC5A2E7582}"/>
              </a:ext>
            </a:extLst>
          </p:cNvPr>
          <p:cNvSpPr>
            <a:spLocks xmlns:a="http://schemas.openxmlformats.org/drawingml/2006/main" noGrp="1"/>
          </p:cNvSpPr>
          <p:nvPr/>
        </p:nvSpPr>
        <p:spPr>
          <a:xfrm xmlns:a="http://schemas.openxmlformats.org/drawingml/2006/main">
            <a:off x="4667250" y="23050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51515"/>
                </a:solidFill>
                <a:latin typeface="Arial"/>
                <a:ea typeface="Arial"/>
                <a:cs typeface="Arial"/>
              </a:defRPr>
            </a:pPr>
            <a:r>
              <a:rPr sz="1650" b="1">
                <a:solidFill>
                  <a:srgbClr val="151515"/>
                </a:solidFill>
                <a:latin typeface="Arial"/>
                <a:ea typeface="Arial"/>
                <a:cs typeface="Arial"/>
              </a:rPr>
              <a:t>Online execution RL</a:t>
            </a:r>
          </a:p>
        </p:txBody>
      </p:sp>
      <p:sp>
        <p:nvSpPr>
          <p:cNvPr id="12" name="">
            <a:extLst xmlns:a="http://schemas.openxmlformats.org/drawingml/2006/main">
              <a:ext uri="{FF2B5EF4-FFF2-40B4-BE49-F238E27FC236}">
                <a16:creationId xmlns:a16="http://schemas.microsoft.com/office/drawing/2014/main" id="{058A8D5D-BDEB-48E8-8616-4C826332A532}"/>
              </a:ext>
            </a:extLst>
          </p:cNvPr>
          <p:cNvSpPr>
            <a:spLocks xmlns:a="http://schemas.openxmlformats.org/drawingml/2006/main" noGrp="1"/>
          </p:cNvSpPr>
          <p:nvPr/>
        </p:nvSpPr>
        <p:spPr>
          <a:xfrm xmlns:a="http://schemas.openxmlformats.org/drawingml/2006/main">
            <a:off x="9705975" y="2695575"/>
            <a:ext cx="209550" cy="209550"/>
          </a:xfrm>
          <a:prstGeom xmlns:a="http://schemas.openxmlformats.org/drawingml/2006/main" prst="ellipse">
            <a:avLst/>
          </a:prstGeom>
          <a:solidFill xmlns:a="http://schemas.openxmlformats.org/drawingml/2006/main">
            <a:srgbClr val="151515"/>
          </a:solidFill>
          <a:ln xmlns:a="http://schemas.openxmlformats.org/drawingml/2006/main" w="28575">
            <a:solidFill>
              <a:srgbClr val="CFB991"/>
            </a:solidFill>
            <a:prstDash val="solid"/>
          </a:ln>
        </p:spPr>
      </p:sp>
      <p:sp>
        <p:nvSpPr>
          <p:cNvPr id="13" name="">
            <a:extLst xmlns:a="http://schemas.openxmlformats.org/drawingml/2006/main">
              <a:ext uri="{FF2B5EF4-FFF2-40B4-BE49-F238E27FC236}">
                <a16:creationId xmlns:a16="http://schemas.microsoft.com/office/drawing/2014/main" id="{36A6B767-5C63-4468-935F-1762282F8055}"/>
              </a:ext>
            </a:extLst>
          </p:cNvPr>
          <p:cNvSpPr>
            <a:spLocks xmlns:a="http://schemas.openxmlformats.org/drawingml/2006/main" noGrp="1"/>
          </p:cNvSpPr>
          <p:nvPr/>
        </p:nvSpPr>
        <p:spPr>
          <a:xfrm xmlns:a="http://schemas.openxmlformats.org/drawingml/2006/main">
            <a:off x="8382000" y="23050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51515"/>
                </a:solidFill>
                <a:latin typeface="Arial"/>
                <a:ea typeface="Arial"/>
                <a:cs typeface="Arial"/>
              </a:defRPr>
            </a:pPr>
            <a:r>
              <a:rPr sz="1650" b="1">
                <a:solidFill>
                  <a:srgbClr val="151515"/>
                </a:solidFill>
                <a:latin typeface="Arial"/>
                <a:ea typeface="Arial"/>
                <a:cs typeface="Arial"/>
              </a:rPr>
              <a:t>Test-time refinement</a:t>
            </a:r>
          </a:p>
        </p:txBody>
      </p:sp>
      <p:sp>
        <p:nvSpPr>
          <p:cNvPr id="14" name="">
            <a:extLst xmlns:a="http://schemas.openxmlformats.org/drawingml/2006/main">
              <a:ext uri="{FF2B5EF4-FFF2-40B4-BE49-F238E27FC236}">
                <a16:creationId xmlns:a16="http://schemas.microsoft.com/office/drawing/2014/main" id="{A6E559DC-C40E-491F-AAB3-CF9EAD94522A}"/>
              </a:ext>
            </a:extLst>
          </p:cNvPr>
          <p:cNvSpPr>
            <a:spLocks xmlns:a="http://schemas.openxmlformats.org/drawingml/2006/main" noGrp="1"/>
          </p:cNvSpPr>
          <p:nvPr/>
        </p:nvSpPr>
        <p:spPr>
          <a:xfrm xmlns:a="http://schemas.openxmlformats.org/drawingml/2006/main">
            <a:off x="3333750" y="300990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8E6F3E"/>
                </a:solidFill>
                <a:latin typeface="Arial"/>
                <a:ea typeface="Arial"/>
                <a:cs typeface="Arial"/>
              </a:defRPr>
            </a:pPr>
            <a:r>
              <a:rPr sz="1350" b="1">
                <a:solidFill>
                  <a:srgbClr val="8E6F3E"/>
                </a:solidFill>
                <a:latin typeface="Arial"/>
                <a:ea typeface="Arial"/>
                <a:cs typeface="Arial"/>
              </a:rPr>
              <a:t>Same checkpoint, tasks, and budget</a:t>
            </a:r>
          </a:p>
        </p:txBody>
      </p:sp>
      <p:sp>
        <p:nvSpPr>
          <p:cNvPr id="15" name="">
            <a:extLst xmlns:a="http://schemas.openxmlformats.org/drawingml/2006/main">
              <a:ext uri="{FF2B5EF4-FFF2-40B4-BE49-F238E27FC236}">
                <a16:creationId xmlns:a16="http://schemas.microsoft.com/office/drawing/2014/main" id="{4A6FAEFC-57DB-4FFD-9C0A-03B316F19DE9}"/>
              </a:ext>
            </a:extLst>
          </p:cNvPr>
          <p:cNvSpPr>
            <a:spLocks xmlns:a="http://schemas.openxmlformats.org/drawingml/2006/main" noGrp="1"/>
          </p:cNvSpPr>
          <p:nvPr/>
        </p:nvSpPr>
        <p:spPr>
          <a:xfrm xmlns:a="http://schemas.openxmlformats.org/drawingml/2006/main">
            <a:off x="609600" y="36385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8E6F3E"/>
                </a:solidFill>
                <a:latin typeface="Arial"/>
                <a:ea typeface="Arial"/>
                <a:cs typeface="Arial"/>
              </a:defRPr>
            </a:pPr>
            <a:r>
              <a:rPr sz="975" b="1">
                <a:solidFill>
                  <a:srgbClr val="8E6F3E"/>
                </a:solidFill>
                <a:latin typeface="Arial"/>
                <a:ea typeface="Arial"/>
                <a:cs typeface="Arial"/>
              </a:rPr>
              <a:t>CURRENT STATUS</a:t>
            </a:r>
          </a:p>
        </p:txBody>
      </p:sp>
      <p:sp>
        <p:nvSpPr>
          <p:cNvPr id="16" name="">
            <a:extLst xmlns:a="http://schemas.openxmlformats.org/drawingml/2006/main">
              <a:ext uri="{FF2B5EF4-FFF2-40B4-BE49-F238E27FC236}">
                <a16:creationId xmlns:a16="http://schemas.microsoft.com/office/drawing/2014/main" id="{03D5FB76-936A-40EB-9D71-662D79099A77}"/>
              </a:ext>
            </a:extLst>
          </p:cNvPr>
          <p:cNvSpPr>
            <a:spLocks xmlns:a="http://schemas.openxmlformats.org/drawingml/2006/main" noGrp="1"/>
          </p:cNvSpPr>
          <p:nvPr/>
        </p:nvSpPr>
        <p:spPr>
          <a:xfrm xmlns:a="http://schemas.openxmlformats.org/drawingml/2006/main">
            <a:off x="762000" y="39814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242424"/>
                </a:solidFill>
                <a:latin typeface="Arial"/>
                <a:ea typeface="Arial"/>
                <a:cs typeface="Arial"/>
              </a:defRPr>
            </a:pPr>
            <a:r>
              <a:rPr sz="1500" b="0">
                <a:solidFill>
                  <a:srgbClr val="242424"/>
                </a:solidFill>
                <a:latin typeface="Arial"/>
                <a:ea typeface="Arial"/>
                <a:cs typeface="Arial"/>
              </a:rPr>
              <a:t>✓</a:t>
            </a:r>
            <a:r>
              <a:rPr sz="1500" b="0">
                <a:solidFill>
                  <a:srgbClr val="242424"/>
                </a:solidFill>
                <a:latin typeface="Arial"/>
                <a:ea typeface="Arial"/>
                <a:cs typeface="Arial"/>
              </a:rPr>
              <a:t>  Proposal framed</a:t>
            </a:r>
          </a:p>
        </p:txBody>
      </p:sp>
      <p:sp>
        <p:nvSpPr>
          <p:cNvPr id="17" name="">
            <a:extLst xmlns:a="http://schemas.openxmlformats.org/drawingml/2006/main">
              <a:ext uri="{FF2B5EF4-FFF2-40B4-BE49-F238E27FC236}">
                <a16:creationId xmlns:a16="http://schemas.microsoft.com/office/drawing/2014/main" id="{74B8FB22-D35F-451F-AB98-F409FD552598}"/>
              </a:ext>
            </a:extLst>
          </p:cNvPr>
          <p:cNvSpPr>
            <a:spLocks xmlns:a="http://schemas.openxmlformats.org/drawingml/2006/main" noGrp="1"/>
          </p:cNvSpPr>
          <p:nvPr/>
        </p:nvSpPr>
        <p:spPr>
          <a:xfrm xmlns:a="http://schemas.openxmlformats.org/drawingml/2006/main">
            <a:off x="6191250" y="39814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242424"/>
                </a:solidFill>
                <a:latin typeface="Arial"/>
                <a:ea typeface="Arial"/>
                <a:cs typeface="Arial"/>
              </a:defRPr>
            </a:pPr>
            <a:r>
              <a:rPr sz="1500" b="0">
                <a:solidFill>
                  <a:srgbClr val="242424"/>
                </a:solidFill>
                <a:latin typeface="Arial"/>
                <a:ea typeface="Arial"/>
                <a:cs typeface="Arial"/>
              </a:rPr>
              <a:t>✓</a:t>
            </a:r>
            <a:r>
              <a:rPr sz="1500" b="0">
                <a:solidFill>
                  <a:srgbClr val="242424"/>
                </a:solidFill>
                <a:latin typeface="Arial"/>
                <a:ea typeface="Arial"/>
                <a:cs typeface="Arial"/>
              </a:rPr>
              <a:t>  CPU GRPO pipeline passed</a:t>
            </a:r>
          </a:p>
        </p:txBody>
      </p:sp>
      <p:sp>
        <p:nvSpPr>
          <p:cNvPr id="18" name="">
            <a:extLst xmlns:a="http://schemas.openxmlformats.org/drawingml/2006/main">
              <a:ext uri="{FF2B5EF4-FFF2-40B4-BE49-F238E27FC236}">
                <a16:creationId xmlns:a16="http://schemas.microsoft.com/office/drawing/2014/main" id="{26FEB3B9-E6E6-4F1D-8ED6-AE16C736E7BA}"/>
              </a:ext>
            </a:extLst>
          </p:cNvPr>
          <p:cNvSpPr>
            <a:spLocks xmlns:a="http://schemas.openxmlformats.org/drawingml/2006/main" noGrp="1"/>
          </p:cNvSpPr>
          <p:nvPr/>
        </p:nvSpPr>
        <p:spPr>
          <a:xfrm xmlns:a="http://schemas.openxmlformats.org/drawingml/2006/main">
            <a:off x="762000" y="46291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242424"/>
                </a:solidFill>
                <a:latin typeface="Arial"/>
                <a:ea typeface="Arial"/>
                <a:cs typeface="Arial"/>
              </a:defRPr>
            </a:pPr>
            <a:r>
              <a:rPr sz="1500" b="0">
                <a:solidFill>
                  <a:srgbClr val="242424"/>
                </a:solidFill>
                <a:latin typeface="Arial"/>
                <a:ea typeface="Arial"/>
                <a:cs typeface="Arial"/>
              </a:rPr>
              <a:t>✓</a:t>
            </a:r>
            <a:r>
              <a:rPr sz="1500" b="0">
                <a:solidFill>
                  <a:srgbClr val="242424"/>
                </a:solidFill>
                <a:latin typeface="Arial"/>
                <a:ea typeface="Arial"/>
                <a:cs typeface="Arial"/>
              </a:rPr>
              <a:t>  1× Scholar A40 confirmed</a:t>
            </a:r>
          </a:p>
        </p:txBody>
      </p:sp>
      <p:sp>
        <p:nvSpPr>
          <p:cNvPr id="19" name="">
            <a:extLst xmlns:a="http://schemas.openxmlformats.org/drawingml/2006/main">
              <a:ext uri="{FF2B5EF4-FFF2-40B4-BE49-F238E27FC236}">
                <a16:creationId xmlns:a16="http://schemas.microsoft.com/office/drawing/2014/main" id="{7C6A910E-B427-45CF-A9BB-82A49B0B858F}"/>
              </a:ext>
            </a:extLst>
          </p:cNvPr>
          <p:cNvSpPr>
            <a:spLocks xmlns:a="http://schemas.openxmlformats.org/drawingml/2006/main" noGrp="1"/>
          </p:cNvSpPr>
          <p:nvPr/>
        </p:nvSpPr>
        <p:spPr>
          <a:xfrm xmlns:a="http://schemas.openxmlformats.org/drawingml/2006/main">
            <a:off x="6191250" y="4629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242424"/>
                </a:solidFill>
                <a:latin typeface="Arial"/>
                <a:ea typeface="Arial"/>
                <a:cs typeface="Arial"/>
              </a:defRPr>
            </a:pPr>
            <a:r>
              <a:rPr sz="1500" b="0">
                <a:solidFill>
                  <a:srgbClr val="242424"/>
                </a:solidFill>
                <a:latin typeface="Arial"/>
                <a:ea typeface="Arial"/>
                <a:cs typeface="Arial"/>
              </a:rPr>
              <a:t>✓</a:t>
            </a:r>
            <a:r>
              <a:rPr sz="1500" b="0">
                <a:solidFill>
                  <a:srgbClr val="242424"/>
                </a:solidFill>
                <a:latin typeface="Arial"/>
                <a:ea typeface="Arial"/>
                <a:cs typeface="Arial"/>
              </a:rPr>
              <a:t>  5-step Qwen A40 run prepared, not run</a:t>
            </a:r>
          </a:p>
        </p:txBody>
      </p:sp>
      <p:sp>
        <p:nvSpPr>
          <p:cNvPr id="20" name="">
            <a:extLst xmlns:a="http://schemas.openxmlformats.org/drawingml/2006/main">
              <a:ext uri="{FF2B5EF4-FFF2-40B4-BE49-F238E27FC236}">
                <a16:creationId xmlns:a16="http://schemas.microsoft.com/office/drawing/2014/main" id="{9C081CBE-E6EB-41B3-8A14-1677398C0D84}"/>
              </a:ext>
            </a:extLst>
          </p:cNvPr>
          <p:cNvSpPr>
            <a:spLocks xmlns:a="http://schemas.openxmlformats.org/drawingml/2006/main" noGrp="1"/>
          </p:cNvSpPr>
          <p:nvPr/>
        </p:nvSpPr>
        <p:spPr>
          <a:xfrm xmlns:a="http://schemas.openxmlformats.org/drawingml/2006/main">
            <a:off x="0" y="5895975"/>
            <a:ext cx="12192000" cy="962025"/>
          </a:xfrm>
          <a:prstGeom xmlns:a="http://schemas.openxmlformats.org/drawingml/2006/main" prst="rect">
            <a:avLst/>
          </a:prstGeom>
          <a:solidFill xmlns:a="http://schemas.openxmlformats.org/drawingml/2006/main">
            <a:srgbClr val="151515"/>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2025" b="1">
                <a:solidFill>
                  <a:srgbClr val="CFB991"/>
                </a:solidFill>
                <a:latin typeface="Arial"/>
                <a:ea typeface="Arial"/>
                <a:cs typeface="Arial"/>
              </a:defRPr>
            </a:pPr>
            <a:r>
              <a:rPr sz="2025" b="1">
                <a:solidFill>
                  <a:srgbClr val="CFB991"/>
                </a:solidFill>
                <a:latin typeface="Arial"/>
                <a:ea typeface="Arial"/>
                <a:cs typeface="Arial"/>
              </a:rPr>
              <a:t>No optimization result yet.</a:t>
            </a:r>
          </a:p>
        </p:txBody>
      </p:sp>
    </p:spTree>
    <p:extLst>
      <p:ext uri="{BB962C8B-B14F-4D97-AF65-F5344CB8AC3E}">
        <p14:creationId xmlns:p14="http://schemas.microsoft.com/office/powerpoint/2010/main" val="2064934854"/>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538AF9E-2F8D-4F11-B32F-249D248B029C}"/>
              </a:ext>
            </a:extLst>
          </p:cNvPr>
          <p:cNvSpPr>
            <a:spLocks xmlns:a="http://schemas.openxmlformats.org/drawingml/2006/main" noGrp="1"/>
          </p:cNvSpPr>
          <p:nvPr/>
        </p:nvSpPr>
        <p:spPr>
          <a:xfrm xmlns:a="http://schemas.openxmlformats.org/drawingml/2006/main">
            <a:off x="609600" y="2286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38" b="1">
                <a:solidFill>
                  <a:srgbClr val="8E6F3E"/>
                </a:solidFill>
                <a:latin typeface="Arial"/>
                <a:ea typeface="Arial"/>
                <a:cs typeface="Arial"/>
              </a:defRPr>
            </a:pPr>
            <a:r>
              <a:rPr sz="938" b="1">
                <a:solidFill>
                  <a:srgbClr val="8E6F3E"/>
                </a:solidFill>
                <a:latin typeface="Arial"/>
                <a:ea typeface="Arial"/>
                <a:cs typeface="Arial"/>
              </a:rPr>
              <a:t>PURDUE VIP  /  PRE-TRAINED MODELS</a:t>
            </a:r>
          </a:p>
        </p:txBody>
      </p:sp>
      <p:sp>
        <p:nvSpPr>
          <p:cNvPr id="2" name="">
            <a:extLst xmlns:a="http://schemas.openxmlformats.org/drawingml/2006/main">
              <a:ext uri="{FF2B5EF4-FFF2-40B4-BE49-F238E27FC236}">
                <a16:creationId xmlns:a16="http://schemas.microsoft.com/office/drawing/2014/main" id="{B6C3B68F-8CAF-4A7C-BFB3-C02463125353}"/>
              </a:ext>
            </a:extLst>
          </p:cNvPr>
          <p:cNvSpPr>
            <a:spLocks xmlns:a="http://schemas.openxmlformats.org/drawingml/2006/main" noGrp="1"/>
          </p:cNvSpPr>
          <p:nvPr/>
        </p:nvSpPr>
        <p:spPr>
          <a:xfrm xmlns:a="http://schemas.openxmlformats.org/drawingml/2006/main">
            <a:off x="609600" y="5524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151515"/>
                </a:solidFill>
                <a:latin typeface="Arial"/>
                <a:ea typeface="Arial"/>
                <a:cs typeface="Arial"/>
              </a:defRPr>
            </a:pPr>
            <a:r>
              <a:rPr sz="2850" b="1">
                <a:solidFill>
                  <a:srgbClr val="151515"/>
                </a:solidFill>
                <a:latin typeface="Arial"/>
                <a:ea typeface="Arial"/>
                <a:cs typeface="Arial"/>
              </a:rPr>
              <a:t>Team progress and the gaps that gate RL</a:t>
            </a:r>
          </a:p>
        </p:txBody>
      </p:sp>
      <p:sp>
        <p:nvSpPr>
          <p:cNvPr id="3" name="">
            <a:extLst xmlns:a="http://schemas.openxmlformats.org/drawingml/2006/main">
              <a:ext uri="{FF2B5EF4-FFF2-40B4-BE49-F238E27FC236}">
                <a16:creationId xmlns:a16="http://schemas.microsoft.com/office/drawing/2014/main" id="{8A2310A9-5E1F-469C-8029-F0F0B4C36B07}"/>
              </a:ext>
            </a:extLst>
          </p:cNvPr>
          <p:cNvSpPr>
            <a:spLocks xmlns:a="http://schemas.openxmlformats.org/drawingml/2006/main" noGrp="1"/>
          </p:cNvSpPr>
          <p:nvPr/>
        </p:nvSpPr>
        <p:spPr>
          <a:xfrm xmlns:a="http://schemas.openxmlformats.org/drawingml/2006/main">
            <a:off x="11258550" y="5524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625E57"/>
                </a:solidFill>
                <a:latin typeface="Arial"/>
                <a:ea typeface="Arial"/>
                <a:cs typeface="Arial"/>
              </a:defRPr>
            </a:pPr>
            <a:r>
              <a:rPr sz="975" b="1">
                <a:solidFill>
                  <a:srgbClr val="625E57"/>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83D928C4-E622-45D2-9718-E3BEFF3952FB}"/>
              </a:ext>
            </a:extLst>
          </p:cNvPr>
          <p:cNvSpPr>
            <a:spLocks xmlns:a="http://schemas.openxmlformats.org/drawingml/2006/main" noGrp="1"/>
          </p:cNvSpPr>
          <p:nvPr/>
        </p:nvSpPr>
        <p:spPr>
          <a:xfrm xmlns:a="http://schemas.openxmlformats.org/drawingml/2006/main">
            <a:off x="609600" y="1114425"/>
            <a:ext cx="11010900" cy="28575"/>
          </a:xfrm>
          <a:prstGeom xmlns:a="http://schemas.openxmlformats.org/drawingml/2006/main" prst="rect">
            <a:avLst/>
          </a:prstGeom>
          <a:solidFill xmlns:a="http://schemas.openxmlformats.org/drawingml/2006/main">
            <a:srgbClr val="CFB99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E57E2E-6995-42B4-9682-A545D70A6421}"/>
              </a:ext>
            </a:extLst>
          </p:cNvPr>
          <p:cNvSpPr>
            <a:spLocks xmlns:a="http://schemas.openxmlformats.org/drawingml/2006/main" noGrp="1"/>
          </p:cNvSpPr>
          <p:nvPr/>
        </p:nvSpPr>
        <p:spPr>
          <a:xfrm xmlns:a="http://schemas.openxmlformats.org/drawingml/2006/main">
            <a:off x="609600" y="13620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B74B3B"/>
                </a:solidFill>
                <a:latin typeface="Arial"/>
                <a:ea typeface="Arial"/>
                <a:cs typeface="Arial"/>
              </a:defRPr>
            </a:pPr>
            <a:r>
              <a:rPr sz="1200" b="1">
                <a:solidFill>
                  <a:srgbClr val="B74B3B"/>
                </a:solidFill>
                <a:latin typeface="Arial"/>
                <a:ea typeface="Arial"/>
                <a:cs typeface="Arial"/>
              </a:rPr>
              <a:t>Workstreams, not final ownership commitments</a:t>
            </a:r>
          </a:p>
        </p:txBody>
      </p:sp>
      <p:sp>
        <p:nvSpPr>
          <p:cNvPr id="6" name="">
            <a:extLst xmlns:a="http://schemas.openxmlformats.org/drawingml/2006/main">
              <a:ext uri="{FF2B5EF4-FFF2-40B4-BE49-F238E27FC236}">
                <a16:creationId xmlns:a16="http://schemas.microsoft.com/office/drawing/2014/main" id="{85362AB8-0EE4-4193-AE43-CF96CE837DB9}"/>
              </a:ext>
            </a:extLst>
          </p:cNvPr>
          <p:cNvSpPr>
            <a:spLocks xmlns:a="http://schemas.openxmlformats.org/drawingml/2006/main" noGrp="1"/>
          </p:cNvSpPr>
          <p:nvPr/>
        </p:nvSpPr>
        <p:spPr>
          <a:xfrm xmlns:a="http://schemas.openxmlformats.org/drawingml/2006/main">
            <a:off x="609600" y="17811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8E6F3E"/>
                </a:solidFill>
                <a:latin typeface="Arial"/>
                <a:ea typeface="Arial"/>
                <a:cs typeface="Arial"/>
              </a:defRPr>
            </a:pPr>
            <a:r>
              <a:rPr sz="975" b="1">
                <a:solidFill>
                  <a:srgbClr val="8E6F3E"/>
                </a:solidFill>
                <a:latin typeface="Arial"/>
                <a:ea typeface="Arial"/>
                <a:cs typeface="Arial"/>
              </a:rPr>
              <a:t>CURRENT WORKSTREAMS</a:t>
            </a:r>
          </a:p>
        </p:txBody>
      </p:sp>
      <p:sp>
        <p:nvSpPr>
          <p:cNvPr id="7" name="">
            <a:extLst xmlns:a="http://schemas.openxmlformats.org/drawingml/2006/main">
              <a:ext uri="{FF2B5EF4-FFF2-40B4-BE49-F238E27FC236}">
                <a16:creationId xmlns:a16="http://schemas.microsoft.com/office/drawing/2014/main" id="{B2F09068-4716-4118-9701-8A05A0D0E0A1}"/>
              </a:ext>
            </a:extLst>
          </p:cNvPr>
          <p:cNvSpPr>
            <a:spLocks xmlns:a="http://schemas.openxmlformats.org/drawingml/2006/main" noGrp="1"/>
          </p:cNvSpPr>
          <p:nvPr/>
        </p:nvSpPr>
        <p:spPr>
          <a:xfrm xmlns:a="http://schemas.openxmlformats.org/drawingml/2006/main">
            <a:off x="609600" y="2143125"/>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8E6F3E"/>
                </a:solidFill>
                <a:latin typeface="Arial"/>
                <a:ea typeface="Arial"/>
                <a:cs typeface="Arial"/>
              </a:defRPr>
            </a:pPr>
            <a:r>
              <a:rPr sz="2025" b="1">
                <a:solidFill>
                  <a:srgbClr val="8E6F3E"/>
                </a:solidFill>
                <a:latin typeface="Arial"/>
                <a:ea typeface="Arial"/>
                <a:cs typeface="Arial"/>
              </a:rPr>
              <a:t>Srrey</a:t>
            </a:r>
          </a:p>
        </p:txBody>
      </p:sp>
      <p:sp>
        <p:nvSpPr>
          <p:cNvPr id="8" name="">
            <a:extLst xmlns:a="http://schemas.openxmlformats.org/drawingml/2006/main">
              <a:ext uri="{FF2B5EF4-FFF2-40B4-BE49-F238E27FC236}">
                <a16:creationId xmlns:a16="http://schemas.microsoft.com/office/drawing/2014/main" id="{40FF911F-B5DA-49E7-9F3F-0B9BEC011C5B}"/>
              </a:ext>
            </a:extLst>
          </p:cNvPr>
          <p:cNvSpPr>
            <a:spLocks xmlns:a="http://schemas.openxmlformats.org/drawingml/2006/main" noGrp="1"/>
          </p:cNvSpPr>
          <p:nvPr/>
        </p:nvSpPr>
        <p:spPr>
          <a:xfrm xmlns:a="http://schemas.openxmlformats.org/drawingml/2006/main">
            <a:off x="1952625" y="21621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75" b="1">
                <a:solidFill>
                  <a:srgbClr val="151515"/>
                </a:solidFill>
                <a:latin typeface="Arial"/>
                <a:ea typeface="Arial"/>
                <a:cs typeface="Arial"/>
              </a:defRPr>
            </a:pPr>
            <a:r>
              <a:rPr sz="1575" b="1">
                <a:solidFill>
                  <a:srgbClr val="151515"/>
                </a:solidFill>
                <a:latin typeface="Arial"/>
                <a:ea typeface="Arial"/>
                <a:cs typeface="Arial"/>
              </a:rPr>
              <a:t>Direction, baselines, and feasibility gate defined</a:t>
            </a:r>
          </a:p>
        </p:txBody>
      </p:sp>
      <p:sp>
        <p:nvSpPr>
          <p:cNvPr id="9" name="">
            <a:extLst xmlns:a="http://schemas.openxmlformats.org/drawingml/2006/main">
              <a:ext uri="{FF2B5EF4-FFF2-40B4-BE49-F238E27FC236}">
                <a16:creationId xmlns:a16="http://schemas.microsoft.com/office/drawing/2014/main" id="{A5DD5ECC-F0D0-433D-840E-D47E7699615B}"/>
              </a:ext>
            </a:extLst>
          </p:cNvPr>
          <p:cNvSpPr>
            <a:spLocks xmlns:a="http://schemas.openxmlformats.org/drawingml/2006/main" noGrp="1"/>
          </p:cNvSpPr>
          <p:nvPr/>
        </p:nvSpPr>
        <p:spPr>
          <a:xfrm xmlns:a="http://schemas.openxmlformats.org/drawingml/2006/main">
            <a:off x="609600" y="331470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8E6F3E"/>
                </a:solidFill>
                <a:latin typeface="Arial"/>
                <a:ea typeface="Arial"/>
                <a:cs typeface="Arial"/>
              </a:defRPr>
            </a:pPr>
            <a:r>
              <a:rPr sz="2025" b="1">
                <a:solidFill>
                  <a:srgbClr val="8E6F3E"/>
                </a:solidFill>
                <a:latin typeface="Arial"/>
                <a:ea typeface="Arial"/>
                <a:cs typeface="Arial"/>
              </a:rPr>
              <a:t>Amr</a:t>
            </a:r>
          </a:p>
        </p:txBody>
      </p:sp>
      <p:sp>
        <p:nvSpPr>
          <p:cNvPr id="10" name="">
            <a:extLst xmlns:a="http://schemas.openxmlformats.org/drawingml/2006/main">
              <a:ext uri="{FF2B5EF4-FFF2-40B4-BE49-F238E27FC236}">
                <a16:creationId xmlns:a16="http://schemas.microsoft.com/office/drawing/2014/main" id="{9C406322-7D7B-445A-8D95-9202089B45F2}"/>
              </a:ext>
            </a:extLst>
          </p:cNvPr>
          <p:cNvSpPr>
            <a:spLocks xmlns:a="http://schemas.openxmlformats.org/drawingml/2006/main" noGrp="1"/>
          </p:cNvSpPr>
          <p:nvPr/>
        </p:nvSpPr>
        <p:spPr>
          <a:xfrm xmlns:a="http://schemas.openxmlformats.org/drawingml/2006/main">
            <a:off x="1952625" y="33337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75" b="1">
                <a:solidFill>
                  <a:srgbClr val="151515"/>
                </a:solidFill>
                <a:latin typeface="Arial"/>
                <a:ea typeface="Arial"/>
                <a:cs typeface="Arial"/>
              </a:defRPr>
            </a:pPr>
            <a:r>
              <a:rPr sz="1575" b="1">
                <a:solidFill>
                  <a:srgbClr val="151515"/>
                </a:solidFill>
                <a:latin typeface="Arial"/>
                <a:ea typeface="Arial"/>
                <a:cs typeface="Arial"/>
              </a:rPr>
              <a:t>Failure taxonomy and fair feedback A/B protocol drafted</a:t>
            </a:r>
          </a:p>
        </p:txBody>
      </p:sp>
      <p:sp>
        <p:nvSpPr>
          <p:cNvPr id="11" name="">
            <a:extLst xmlns:a="http://schemas.openxmlformats.org/drawingml/2006/main">
              <a:ext uri="{FF2B5EF4-FFF2-40B4-BE49-F238E27FC236}">
                <a16:creationId xmlns:a16="http://schemas.microsoft.com/office/drawing/2014/main" id="{6C61B076-61F5-427A-9604-B3F6037EAEB9}"/>
              </a:ext>
            </a:extLst>
          </p:cNvPr>
          <p:cNvSpPr>
            <a:spLocks xmlns:a="http://schemas.openxmlformats.org/drawingml/2006/main" noGrp="1"/>
          </p:cNvSpPr>
          <p:nvPr/>
        </p:nvSpPr>
        <p:spPr>
          <a:xfrm xmlns:a="http://schemas.openxmlformats.org/drawingml/2006/main">
            <a:off x="1952625" y="37719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625E57"/>
                </a:solidFill>
                <a:latin typeface="Arial"/>
                <a:ea typeface="Arial"/>
                <a:cs typeface="Arial"/>
              </a:defRPr>
            </a:pPr>
            <a:r>
              <a:rPr sz="1350" b="1">
                <a:solidFill>
                  <a:srgbClr val="625E57"/>
                </a:solidFill>
                <a:latin typeface="Arial"/>
                <a:ea typeface="Arial"/>
                <a:cs typeface="Arial"/>
              </a:rPr>
              <a:t>Spark GB10 checked  /  PyTorch GPU pending</a:t>
            </a:r>
          </a:p>
        </p:txBody>
      </p:sp>
      <p:sp>
        <p:nvSpPr>
          <p:cNvPr id="12" name="">
            <a:extLst xmlns:a="http://schemas.openxmlformats.org/drawingml/2006/main">
              <a:ext uri="{FF2B5EF4-FFF2-40B4-BE49-F238E27FC236}">
                <a16:creationId xmlns:a16="http://schemas.microsoft.com/office/drawing/2014/main" id="{698F7FC1-8F30-4078-8094-708A09E2D030}"/>
              </a:ext>
            </a:extLst>
          </p:cNvPr>
          <p:cNvSpPr>
            <a:spLocks xmlns:a="http://schemas.openxmlformats.org/drawingml/2006/main" noGrp="1"/>
          </p:cNvSpPr>
          <p:nvPr/>
        </p:nvSpPr>
        <p:spPr>
          <a:xfrm xmlns:a="http://schemas.openxmlformats.org/drawingml/2006/main">
            <a:off x="609600" y="476250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8E6F3E"/>
                </a:solidFill>
                <a:latin typeface="Arial"/>
                <a:ea typeface="Arial"/>
                <a:cs typeface="Arial"/>
              </a:defRPr>
            </a:pPr>
            <a:r>
              <a:rPr sz="2025" b="1">
                <a:solidFill>
                  <a:srgbClr val="8E6F3E"/>
                </a:solidFill>
                <a:latin typeface="Arial"/>
                <a:ea typeface="Arial"/>
                <a:cs typeface="Arial"/>
              </a:rPr>
              <a:t>Andre</a:t>
            </a:r>
          </a:p>
        </p:txBody>
      </p:sp>
      <p:sp>
        <p:nvSpPr>
          <p:cNvPr id="13" name="">
            <a:extLst xmlns:a="http://schemas.openxmlformats.org/drawingml/2006/main">
              <a:ext uri="{FF2B5EF4-FFF2-40B4-BE49-F238E27FC236}">
                <a16:creationId xmlns:a16="http://schemas.microsoft.com/office/drawing/2014/main" id="{825D9299-56EF-4F48-9F2B-EB6E98BCB0B7}"/>
              </a:ext>
            </a:extLst>
          </p:cNvPr>
          <p:cNvSpPr>
            <a:spLocks xmlns:a="http://schemas.openxmlformats.org/drawingml/2006/main" noGrp="1"/>
          </p:cNvSpPr>
          <p:nvPr/>
        </p:nvSpPr>
        <p:spPr>
          <a:xfrm xmlns:a="http://schemas.openxmlformats.org/drawingml/2006/main">
            <a:off x="1952625" y="47815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75" b="1">
                <a:solidFill>
                  <a:srgbClr val="151515"/>
                </a:solidFill>
                <a:latin typeface="Arial"/>
                <a:ea typeface="Arial"/>
                <a:cs typeface="Arial"/>
              </a:defRPr>
            </a:pPr>
            <a:r>
              <a:rPr sz="1575" b="1">
                <a:solidFill>
                  <a:srgbClr val="151515"/>
                </a:solidFill>
                <a:latin typeface="Arial"/>
                <a:ea typeface="Arial"/>
                <a:cs typeface="Arial"/>
              </a:rPr>
              <a:t>Reproducible CPU GRPO plumbing passed</a:t>
            </a:r>
          </a:p>
        </p:txBody>
      </p:sp>
      <p:sp>
        <p:nvSpPr>
          <p:cNvPr id="14" name="">
            <a:extLst xmlns:a="http://schemas.openxmlformats.org/drawingml/2006/main">
              <a:ext uri="{FF2B5EF4-FFF2-40B4-BE49-F238E27FC236}">
                <a16:creationId xmlns:a16="http://schemas.microsoft.com/office/drawing/2014/main" id="{228BA8F8-EA52-4168-A9CF-F88C3D2ABDF8}"/>
              </a:ext>
            </a:extLst>
          </p:cNvPr>
          <p:cNvSpPr>
            <a:spLocks xmlns:a="http://schemas.openxmlformats.org/drawingml/2006/main" noGrp="1"/>
          </p:cNvSpPr>
          <p:nvPr/>
        </p:nvSpPr>
        <p:spPr>
          <a:xfrm xmlns:a="http://schemas.openxmlformats.org/drawingml/2006/main">
            <a:off x="1952625" y="52197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625E57"/>
                </a:solidFill>
                <a:latin typeface="Arial"/>
                <a:ea typeface="Arial"/>
                <a:cs typeface="Arial"/>
              </a:defRPr>
            </a:pPr>
            <a:r>
              <a:rPr sz="1350" b="1">
                <a:solidFill>
                  <a:srgbClr val="625E57"/>
                </a:solidFill>
                <a:latin typeface="Arial"/>
                <a:ea typeface="Arial"/>
                <a:cs typeface="Arial"/>
              </a:rPr>
              <a:t>Scholar A40 single-GPU path confirmed</a:t>
            </a:r>
          </a:p>
        </p:txBody>
      </p:sp>
      <p:sp>
        <p:nvSpPr>
          <p:cNvPr id="15" name="">
            <a:extLst xmlns:a="http://schemas.openxmlformats.org/drawingml/2006/main">
              <a:ext uri="{FF2B5EF4-FFF2-40B4-BE49-F238E27FC236}">
                <a16:creationId xmlns:a16="http://schemas.microsoft.com/office/drawing/2014/main" id="{A77517C9-A74F-4331-BAB5-0CF274007884}"/>
              </a:ext>
            </a:extLst>
          </p:cNvPr>
          <p:cNvSpPr>
            <a:spLocks xmlns:a="http://schemas.openxmlformats.org/drawingml/2006/main" noGrp="1"/>
          </p:cNvSpPr>
          <p:nvPr/>
        </p:nvSpPr>
        <p:spPr>
          <a:xfrm xmlns:a="http://schemas.openxmlformats.org/drawingml/2006/main">
            <a:off x="7553325" y="1428750"/>
            <a:ext cx="28575" cy="4067175"/>
          </a:xfrm>
          <a:prstGeom xmlns:a="http://schemas.openxmlformats.org/drawingml/2006/main" prst="rect">
            <a:avLst/>
          </a:prstGeom>
          <a:solidFill xmlns:a="http://schemas.openxmlformats.org/drawingml/2006/main">
            <a:srgbClr val="CFB99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817C23F-6007-4A05-B85B-1A0234E4044C}"/>
              </a:ext>
            </a:extLst>
          </p:cNvPr>
          <p:cNvSpPr>
            <a:spLocks xmlns:a="http://schemas.openxmlformats.org/drawingml/2006/main" noGrp="1"/>
          </p:cNvSpPr>
          <p:nvPr/>
        </p:nvSpPr>
        <p:spPr>
          <a:xfrm xmlns:a="http://schemas.openxmlformats.org/drawingml/2006/main">
            <a:off x="7953375" y="178117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8E6F3E"/>
                </a:solidFill>
                <a:latin typeface="Arial"/>
                <a:ea typeface="Arial"/>
                <a:cs typeface="Arial"/>
              </a:defRPr>
            </a:pPr>
            <a:r>
              <a:rPr sz="975" b="1">
                <a:solidFill>
                  <a:srgbClr val="8E6F3E"/>
                </a:solidFill>
                <a:latin typeface="Arial"/>
                <a:ea typeface="Arial"/>
                <a:cs typeface="Arial"/>
              </a:rPr>
              <a:t>GAPS THAT GATE RL</a:t>
            </a:r>
          </a:p>
        </p:txBody>
      </p:sp>
      <p:sp>
        <p:nvSpPr>
          <p:cNvPr id="17" name="">
            <a:extLst xmlns:a="http://schemas.openxmlformats.org/drawingml/2006/main">
              <a:ext uri="{FF2B5EF4-FFF2-40B4-BE49-F238E27FC236}">
                <a16:creationId xmlns:a16="http://schemas.microsoft.com/office/drawing/2014/main" id="{A8957105-069B-4905-B615-A8C40C84048B}"/>
              </a:ext>
            </a:extLst>
          </p:cNvPr>
          <p:cNvSpPr>
            <a:spLocks xmlns:a="http://schemas.openxmlformats.org/drawingml/2006/main" noGrp="1"/>
          </p:cNvSpPr>
          <p:nvPr/>
        </p:nvSpPr>
        <p:spPr>
          <a:xfrm xmlns:a="http://schemas.openxmlformats.org/drawingml/2006/main">
            <a:off x="7953375" y="23050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8E6F3E"/>
                </a:solidFill>
                <a:latin typeface="Arial"/>
                <a:ea typeface="Arial"/>
                <a:cs typeface="Arial"/>
              </a:defRPr>
            </a:pPr>
            <a:r>
              <a:rPr sz="1875" b="1">
                <a:solidFill>
                  <a:srgbClr val="8E6F3E"/>
                </a:solidFill>
                <a:latin typeface="Arial"/>
                <a:ea typeface="Arial"/>
                <a:cs typeface="Arial"/>
              </a:rPr>
              <a:t>01</a:t>
            </a:r>
          </a:p>
        </p:txBody>
      </p:sp>
      <p:sp>
        <p:nvSpPr>
          <p:cNvPr id="18" name="">
            <a:extLst xmlns:a="http://schemas.openxmlformats.org/drawingml/2006/main">
              <a:ext uri="{FF2B5EF4-FFF2-40B4-BE49-F238E27FC236}">
                <a16:creationId xmlns:a16="http://schemas.microsoft.com/office/drawing/2014/main" id="{FE0D06F7-335A-456E-9F4F-D74CC40AE109}"/>
              </a:ext>
            </a:extLst>
          </p:cNvPr>
          <p:cNvSpPr>
            <a:spLocks xmlns:a="http://schemas.openxmlformats.org/drawingml/2006/main" noGrp="1"/>
          </p:cNvSpPr>
          <p:nvPr/>
        </p:nvSpPr>
        <p:spPr>
          <a:xfrm xmlns:a="http://schemas.openxmlformats.org/drawingml/2006/main">
            <a:off x="8763000" y="23050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725" b="1">
                <a:solidFill>
                  <a:srgbClr val="151515"/>
                </a:solidFill>
                <a:latin typeface="Arial"/>
                <a:ea typeface="Arial"/>
                <a:cs typeface="Arial"/>
              </a:defRPr>
            </a:pPr>
            <a:r>
              <a:rPr sz="1725" b="1">
                <a:solidFill>
                  <a:srgbClr val="151515"/>
                </a:solidFill>
                <a:latin typeface="Arial"/>
                <a:ea typeface="Arial"/>
                <a:cs typeface="Arial"/>
              </a:rPr>
              <a:t>Multi-GPU evaluator</a:t>
            </a:r>
          </a:p>
        </p:txBody>
      </p:sp>
      <p:sp>
        <p:nvSpPr>
          <p:cNvPr id="19" name="">
            <a:extLst xmlns:a="http://schemas.openxmlformats.org/drawingml/2006/main">
              <a:ext uri="{FF2B5EF4-FFF2-40B4-BE49-F238E27FC236}">
                <a16:creationId xmlns:a16="http://schemas.microsoft.com/office/drawing/2014/main" id="{CD54E2B9-0C80-4F1B-B500-8D8C9ECE5220}"/>
              </a:ext>
            </a:extLst>
          </p:cNvPr>
          <p:cNvSpPr>
            <a:spLocks xmlns:a="http://schemas.openxmlformats.org/drawingml/2006/main" noGrp="1"/>
          </p:cNvSpPr>
          <p:nvPr/>
        </p:nvSpPr>
        <p:spPr>
          <a:xfrm xmlns:a="http://schemas.openxmlformats.org/drawingml/2006/main">
            <a:off x="7953375" y="2933700"/>
            <a:ext cx="3667125" cy="19050"/>
          </a:xfrm>
          <a:prstGeom xmlns:a="http://schemas.openxmlformats.org/drawingml/2006/main" prst="rect">
            <a:avLst/>
          </a:prstGeom>
          <a:solidFill xmlns:a="http://schemas.openxmlformats.org/drawingml/2006/main">
            <a:srgbClr val="EEE4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730AB18-A300-4FE8-B00E-93F8F54DA839}"/>
              </a:ext>
            </a:extLst>
          </p:cNvPr>
          <p:cNvSpPr>
            <a:spLocks xmlns:a="http://schemas.openxmlformats.org/drawingml/2006/main" noGrp="1"/>
          </p:cNvSpPr>
          <p:nvPr/>
        </p:nvSpPr>
        <p:spPr>
          <a:xfrm xmlns:a="http://schemas.openxmlformats.org/drawingml/2006/main">
            <a:off x="7953375" y="33718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8E6F3E"/>
                </a:solidFill>
                <a:latin typeface="Arial"/>
                <a:ea typeface="Arial"/>
                <a:cs typeface="Arial"/>
              </a:defRPr>
            </a:pPr>
            <a:r>
              <a:rPr sz="1875" b="1">
                <a:solidFill>
                  <a:srgbClr val="8E6F3E"/>
                </a:solidFill>
                <a:latin typeface="Arial"/>
                <a:ea typeface="Arial"/>
                <a:cs typeface="Arial"/>
              </a:rPr>
              <a:t>02</a:t>
            </a:r>
          </a:p>
        </p:txBody>
      </p:sp>
      <p:sp>
        <p:nvSpPr>
          <p:cNvPr id="21" name="">
            <a:extLst xmlns:a="http://schemas.openxmlformats.org/drawingml/2006/main">
              <a:ext uri="{FF2B5EF4-FFF2-40B4-BE49-F238E27FC236}">
                <a16:creationId xmlns:a16="http://schemas.microsoft.com/office/drawing/2014/main" id="{E0791274-FE3B-43D5-B8EF-4711F93AE59D}"/>
              </a:ext>
            </a:extLst>
          </p:cNvPr>
          <p:cNvSpPr>
            <a:spLocks xmlns:a="http://schemas.openxmlformats.org/drawingml/2006/main" noGrp="1"/>
          </p:cNvSpPr>
          <p:nvPr/>
        </p:nvSpPr>
        <p:spPr>
          <a:xfrm xmlns:a="http://schemas.openxmlformats.org/drawingml/2006/main">
            <a:off x="8763000" y="33718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725" b="1">
                <a:solidFill>
                  <a:srgbClr val="151515"/>
                </a:solidFill>
                <a:latin typeface="Arial"/>
                <a:ea typeface="Arial"/>
                <a:cs typeface="Arial"/>
              </a:defRPr>
            </a:pPr>
            <a:r>
              <a:rPr sz="1725" b="1">
                <a:solidFill>
                  <a:srgbClr val="151515"/>
                </a:solidFill>
                <a:latin typeface="Arial"/>
                <a:ea typeface="Arial"/>
                <a:cs typeface="Arial"/>
              </a:rPr>
              <a:t>Allocation and topology</a:t>
            </a:r>
          </a:p>
        </p:txBody>
      </p:sp>
      <p:sp>
        <p:nvSpPr>
          <p:cNvPr id="22" name="">
            <a:extLst xmlns:a="http://schemas.openxmlformats.org/drawingml/2006/main">
              <a:ext uri="{FF2B5EF4-FFF2-40B4-BE49-F238E27FC236}">
                <a16:creationId xmlns:a16="http://schemas.microsoft.com/office/drawing/2014/main" id="{9CD7A4FE-F18E-4FB5-B849-5140626B4691}"/>
              </a:ext>
            </a:extLst>
          </p:cNvPr>
          <p:cNvSpPr>
            <a:spLocks xmlns:a="http://schemas.openxmlformats.org/drawingml/2006/main" noGrp="1"/>
          </p:cNvSpPr>
          <p:nvPr/>
        </p:nvSpPr>
        <p:spPr>
          <a:xfrm xmlns:a="http://schemas.openxmlformats.org/drawingml/2006/main">
            <a:off x="7953375" y="4000500"/>
            <a:ext cx="3667125" cy="19050"/>
          </a:xfrm>
          <a:prstGeom xmlns:a="http://schemas.openxmlformats.org/drawingml/2006/main" prst="rect">
            <a:avLst/>
          </a:prstGeom>
          <a:solidFill xmlns:a="http://schemas.openxmlformats.org/drawingml/2006/main">
            <a:srgbClr val="EEE4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E3FBDF0-3542-4690-B8DC-CD3318A0B2F5}"/>
              </a:ext>
            </a:extLst>
          </p:cNvPr>
          <p:cNvSpPr>
            <a:spLocks xmlns:a="http://schemas.openxmlformats.org/drawingml/2006/main" noGrp="1"/>
          </p:cNvSpPr>
          <p:nvPr/>
        </p:nvSpPr>
        <p:spPr>
          <a:xfrm xmlns:a="http://schemas.openxmlformats.org/drawingml/2006/main">
            <a:off x="7953375" y="44386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8E6F3E"/>
                </a:solidFill>
                <a:latin typeface="Arial"/>
                <a:ea typeface="Arial"/>
                <a:cs typeface="Arial"/>
              </a:defRPr>
            </a:pPr>
            <a:r>
              <a:rPr sz="1875" b="1">
                <a:solidFill>
                  <a:srgbClr val="8E6F3E"/>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9273DB3B-AD9C-4954-9EA5-7D20A86CA664}"/>
              </a:ext>
            </a:extLst>
          </p:cNvPr>
          <p:cNvSpPr>
            <a:spLocks xmlns:a="http://schemas.openxmlformats.org/drawingml/2006/main" noGrp="1"/>
          </p:cNvSpPr>
          <p:nvPr/>
        </p:nvSpPr>
        <p:spPr>
          <a:xfrm xmlns:a="http://schemas.openxmlformats.org/drawingml/2006/main">
            <a:off x="8763000" y="44386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725" b="1">
                <a:solidFill>
                  <a:srgbClr val="151515"/>
                </a:solidFill>
                <a:latin typeface="Arial"/>
                <a:ea typeface="Arial"/>
                <a:cs typeface="Arial"/>
              </a:defRPr>
            </a:pPr>
            <a:r>
              <a:rPr sz="1725" b="1">
                <a:solidFill>
                  <a:srgbClr val="151515"/>
                </a:solidFill>
                <a:latin typeface="Arial"/>
                <a:ea typeface="Arial"/>
                <a:cs typeface="Arial"/>
              </a:rPr>
              <a:t>Measured rollout throughput</a:t>
            </a:r>
          </a:p>
        </p:txBody>
      </p:sp>
      <p:sp>
        <p:nvSpPr>
          <p:cNvPr id="25" name="">
            <a:extLst xmlns:a="http://schemas.openxmlformats.org/drawingml/2006/main">
              <a:ext uri="{FF2B5EF4-FFF2-40B4-BE49-F238E27FC236}">
                <a16:creationId xmlns:a16="http://schemas.microsoft.com/office/drawing/2014/main" id="{E103ABCB-15A9-4D33-ABF3-8BA1AB802A1B}"/>
              </a:ext>
            </a:extLst>
          </p:cNvPr>
          <p:cNvSpPr>
            <a:spLocks xmlns:a="http://schemas.openxmlformats.org/drawingml/2006/main" noGrp="1"/>
          </p:cNvSpPr>
          <p:nvPr/>
        </p:nvSpPr>
        <p:spPr>
          <a:xfrm xmlns:a="http://schemas.openxmlformats.org/drawingml/2006/main">
            <a:off x="0" y="5895975"/>
            <a:ext cx="12192000" cy="962025"/>
          </a:xfrm>
          <a:prstGeom xmlns:a="http://schemas.openxmlformats.org/drawingml/2006/main" prst="rect">
            <a:avLst/>
          </a:prstGeom>
          <a:solidFill xmlns:a="http://schemas.openxmlformats.org/drawingml/2006/main">
            <a:srgbClr val="151515"/>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CFB991"/>
                </a:solidFill>
                <a:latin typeface="Arial"/>
                <a:ea typeface="Arial"/>
                <a:cs typeface="Arial"/>
              </a:defRPr>
            </a:pPr>
            <a:r>
              <a:rPr sz="1875" b="1">
                <a:solidFill>
                  <a:srgbClr val="CFB991"/>
                </a:solidFill>
                <a:latin typeface="Arial"/>
                <a:ea typeface="Arial"/>
                <a:cs typeface="Arial"/>
              </a:rPr>
              <a:t>Infrastructure checks are not research evidence.</a:t>
            </a:r>
          </a:p>
        </p:txBody>
      </p:sp>
    </p:spTree>
    <p:extLst>
      <p:ext uri="{BB962C8B-B14F-4D97-AF65-F5344CB8AC3E}">
        <p14:creationId xmlns:p14="http://schemas.microsoft.com/office/powerpoint/2010/main" val="1048657912"/>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DC3C5ED-1ED3-4B5D-811D-D92069D9EB3B}"/>
              </a:ext>
            </a:extLst>
          </p:cNvPr>
          <p:cNvSpPr>
            <a:spLocks xmlns:a="http://schemas.openxmlformats.org/drawingml/2006/main" noGrp="1"/>
          </p:cNvSpPr>
          <p:nvPr/>
        </p:nvSpPr>
        <p:spPr>
          <a:xfrm xmlns:a="http://schemas.openxmlformats.org/drawingml/2006/main">
            <a:off x="609600" y="2286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38" b="1">
                <a:solidFill>
                  <a:srgbClr val="8E6F3E"/>
                </a:solidFill>
                <a:latin typeface="Arial"/>
                <a:ea typeface="Arial"/>
                <a:cs typeface="Arial"/>
              </a:defRPr>
            </a:pPr>
            <a:r>
              <a:rPr sz="938" b="1">
                <a:solidFill>
                  <a:srgbClr val="8E6F3E"/>
                </a:solidFill>
                <a:latin typeface="Arial"/>
                <a:ea typeface="Arial"/>
                <a:cs typeface="Arial"/>
              </a:rPr>
              <a:t>PURDUE VIP  /  PRE-TRAINED MODELS</a:t>
            </a:r>
          </a:p>
        </p:txBody>
      </p:sp>
      <p:sp>
        <p:nvSpPr>
          <p:cNvPr id="2" name="">
            <a:extLst xmlns:a="http://schemas.openxmlformats.org/drawingml/2006/main">
              <a:ext uri="{FF2B5EF4-FFF2-40B4-BE49-F238E27FC236}">
                <a16:creationId xmlns:a16="http://schemas.microsoft.com/office/drawing/2014/main" id="{20A456DE-3E72-46FB-BA94-644FEAAE1BFD}"/>
              </a:ext>
            </a:extLst>
          </p:cNvPr>
          <p:cNvSpPr>
            <a:spLocks xmlns:a="http://schemas.openxmlformats.org/drawingml/2006/main" noGrp="1"/>
          </p:cNvSpPr>
          <p:nvPr/>
        </p:nvSpPr>
        <p:spPr>
          <a:xfrm xmlns:a="http://schemas.openxmlformats.org/drawingml/2006/main">
            <a:off x="609600" y="5143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151515"/>
                </a:solidFill>
                <a:latin typeface="Arial"/>
                <a:ea typeface="Arial"/>
                <a:cs typeface="Arial"/>
              </a:defRPr>
            </a:pPr>
            <a:r>
              <a:rPr sz="3000" b="1">
                <a:solidFill>
                  <a:srgbClr val="151515"/>
                </a:solidFill>
                <a:latin typeface="Arial"/>
                <a:ea typeface="Arial"/>
                <a:cs typeface="Arial"/>
              </a:rPr>
              <a:t>Proposed path to a go/no-go decision</a:t>
            </a:r>
          </a:p>
        </p:txBody>
      </p:sp>
      <p:sp>
        <p:nvSpPr>
          <p:cNvPr id="3" name="">
            <a:extLst xmlns:a="http://schemas.openxmlformats.org/drawingml/2006/main">
              <a:ext uri="{FF2B5EF4-FFF2-40B4-BE49-F238E27FC236}">
                <a16:creationId xmlns:a16="http://schemas.microsoft.com/office/drawing/2014/main" id="{369B4545-97A9-44FA-97F5-878CBBAB98AD}"/>
              </a:ext>
            </a:extLst>
          </p:cNvPr>
          <p:cNvSpPr>
            <a:spLocks xmlns:a="http://schemas.openxmlformats.org/drawingml/2006/main" noGrp="1"/>
          </p:cNvSpPr>
          <p:nvPr/>
        </p:nvSpPr>
        <p:spPr>
          <a:xfrm xmlns:a="http://schemas.openxmlformats.org/drawingml/2006/main">
            <a:off x="11258550" y="5524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625E57"/>
                </a:solidFill>
                <a:latin typeface="Arial"/>
                <a:ea typeface="Arial"/>
                <a:cs typeface="Arial"/>
              </a:defRPr>
            </a:pPr>
            <a:r>
              <a:rPr sz="975" b="1">
                <a:solidFill>
                  <a:srgbClr val="625E57"/>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4A7AADD-4DF8-4A02-A13C-40A513165B19}"/>
              </a:ext>
            </a:extLst>
          </p:cNvPr>
          <p:cNvSpPr>
            <a:spLocks xmlns:a="http://schemas.openxmlformats.org/drawingml/2006/main" noGrp="1"/>
          </p:cNvSpPr>
          <p:nvPr/>
        </p:nvSpPr>
        <p:spPr>
          <a:xfrm xmlns:a="http://schemas.openxmlformats.org/drawingml/2006/main">
            <a:off x="609600" y="1114425"/>
            <a:ext cx="11010900" cy="28575"/>
          </a:xfrm>
          <a:prstGeom xmlns:a="http://schemas.openxmlformats.org/drawingml/2006/main" prst="rect">
            <a:avLst/>
          </a:prstGeom>
          <a:solidFill xmlns:a="http://schemas.openxmlformats.org/drawingml/2006/main">
            <a:srgbClr val="CFB99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A03ABE-86BC-4025-8F86-E890D20EC9F1}"/>
              </a:ext>
            </a:extLst>
          </p:cNvPr>
          <p:cNvSpPr>
            <a:spLocks xmlns:a="http://schemas.openxmlformats.org/drawingml/2006/main" noGrp="1"/>
          </p:cNvSpPr>
          <p:nvPr/>
        </p:nvSpPr>
        <p:spPr>
          <a:xfrm xmlns:a="http://schemas.openxmlformats.org/drawingml/2006/main">
            <a:off x="609600" y="1362075"/>
            <a:ext cx="1101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1">
                <a:solidFill>
                  <a:srgbClr val="B74B3B"/>
                </a:solidFill>
                <a:latin typeface="Arial"/>
                <a:ea typeface="Arial"/>
                <a:cs typeface="Arial"/>
              </a:defRPr>
            </a:pPr>
            <a:r>
              <a:rPr sz="1275" b="1">
                <a:solidFill>
                  <a:srgbClr val="B74B3B"/>
                </a:solidFill>
                <a:latin typeface="Arial"/>
                <a:ea typeface="Arial"/>
                <a:cs typeface="Arial"/>
              </a:rPr>
              <a:t>Proposed — owners and dates need team/instructor confirmation.</a:t>
            </a:r>
          </a:p>
        </p:txBody>
      </p:sp>
      <p:sp>
        <p:nvSpPr>
          <p:cNvPr id="6" name="">
            <a:extLst xmlns:a="http://schemas.openxmlformats.org/drawingml/2006/main">
              <a:ext uri="{FF2B5EF4-FFF2-40B4-BE49-F238E27FC236}">
                <a16:creationId xmlns:a16="http://schemas.microsoft.com/office/drawing/2014/main" id="{5F885BCC-7C97-468D-9F10-1B91B2C847EF}"/>
              </a:ext>
            </a:extLst>
          </p:cNvPr>
          <p:cNvSpPr>
            <a:spLocks xmlns:a="http://schemas.openxmlformats.org/drawingml/2006/main" noGrp="1"/>
          </p:cNvSpPr>
          <p:nvPr/>
        </p:nvSpPr>
        <p:spPr>
          <a:xfrm xmlns:a="http://schemas.openxmlformats.org/drawingml/2006/main">
            <a:off x="1428750" y="2628900"/>
            <a:ext cx="9334500" cy="47625"/>
          </a:xfrm>
          <a:prstGeom xmlns:a="http://schemas.openxmlformats.org/drawingml/2006/main" prst="rect">
            <a:avLst/>
          </a:prstGeom>
          <a:solidFill xmlns:a="http://schemas.openxmlformats.org/drawingml/2006/main">
            <a:srgbClr val="CFB99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097D481-7ED8-4533-8DDB-5FB80A5B08D7}"/>
              </a:ext>
            </a:extLst>
          </p:cNvPr>
          <p:cNvSpPr>
            <a:spLocks xmlns:a="http://schemas.openxmlformats.org/drawingml/2006/main" noGrp="1"/>
          </p:cNvSpPr>
          <p:nvPr/>
        </p:nvSpPr>
        <p:spPr>
          <a:xfrm xmlns:a="http://schemas.openxmlformats.org/drawingml/2006/main">
            <a:off x="1285875" y="19431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75" b="1">
                <a:solidFill>
                  <a:srgbClr val="8E6F3E"/>
                </a:solidFill>
                <a:latin typeface="Arial"/>
                <a:ea typeface="Arial"/>
                <a:cs typeface="Arial"/>
              </a:defRPr>
            </a:pPr>
            <a:r>
              <a:rPr sz="2175" b="1">
                <a:solidFill>
                  <a:srgbClr val="8E6F3E"/>
                </a:solidFill>
                <a:latin typeface="Arial"/>
                <a:ea typeface="Arial"/>
                <a:cs typeface="Arial"/>
              </a:rPr>
              <a:t>NOV 1</a:t>
            </a:r>
          </a:p>
        </p:txBody>
      </p:sp>
      <p:sp>
        <p:nvSpPr>
          <p:cNvPr id="8" name="">
            <a:extLst xmlns:a="http://schemas.openxmlformats.org/drawingml/2006/main">
              <a:ext uri="{FF2B5EF4-FFF2-40B4-BE49-F238E27FC236}">
                <a16:creationId xmlns:a16="http://schemas.microsoft.com/office/drawing/2014/main" id="{AE661D9E-32E2-4A82-A2AB-190824CA5C0B}"/>
              </a:ext>
            </a:extLst>
          </p:cNvPr>
          <p:cNvSpPr>
            <a:spLocks xmlns:a="http://schemas.openxmlformats.org/drawingml/2006/main" noGrp="1"/>
          </p:cNvSpPr>
          <p:nvPr/>
        </p:nvSpPr>
        <p:spPr>
          <a:xfrm xmlns:a="http://schemas.openxmlformats.org/drawingml/2006/main">
            <a:off x="2352675" y="2533650"/>
            <a:ext cx="247650" cy="247650"/>
          </a:xfrm>
          <a:prstGeom xmlns:a="http://schemas.openxmlformats.org/drawingml/2006/main" prst="ellipse">
            <a:avLst/>
          </a:prstGeom>
          <a:solidFill xmlns:a="http://schemas.openxmlformats.org/drawingml/2006/main">
            <a:srgbClr val="151515"/>
          </a:solidFill>
          <a:ln xmlns:a="http://schemas.openxmlformats.org/drawingml/2006/main" w="38100">
            <a:solidFill>
              <a:srgbClr val="CFB991"/>
            </a:solidFill>
            <a:prstDash val="solid"/>
          </a:ln>
        </p:spPr>
      </p:sp>
      <p:sp>
        <p:nvSpPr>
          <p:cNvPr id="9" name="">
            <a:extLst xmlns:a="http://schemas.openxmlformats.org/drawingml/2006/main">
              <a:ext uri="{FF2B5EF4-FFF2-40B4-BE49-F238E27FC236}">
                <a16:creationId xmlns:a16="http://schemas.microsoft.com/office/drawing/2014/main" id="{41F0F896-5237-4FA1-A4A9-CFABB3A00499}"/>
              </a:ext>
            </a:extLst>
          </p:cNvPr>
          <p:cNvSpPr>
            <a:spLocks xmlns:a="http://schemas.openxmlformats.org/drawingml/2006/main" noGrp="1"/>
          </p:cNvSpPr>
          <p:nvPr/>
        </p:nvSpPr>
        <p:spPr>
          <a:xfrm xmlns:a="http://schemas.openxmlformats.org/drawingml/2006/main">
            <a:off x="1047750" y="3038475"/>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151515"/>
                </a:solidFill>
                <a:latin typeface="Arial"/>
                <a:ea typeface="Arial"/>
                <a:cs typeface="Arial"/>
              </a:defRPr>
            </a:pPr>
            <a:r>
              <a:rPr sz="1875" b="1">
                <a:solidFill>
                  <a:srgbClr val="151515"/>
                </a:solidFill>
                <a:latin typeface="Arial"/>
                <a:ea typeface="Arial"/>
                <a:cs typeface="Arial"/>
              </a:rPr>
              <a:t>Evaluator pilot</a:t>
            </a:r>
          </a:p>
        </p:txBody>
      </p:sp>
      <p:sp>
        <p:nvSpPr>
          <p:cNvPr id="10" name="">
            <a:extLst xmlns:a="http://schemas.openxmlformats.org/drawingml/2006/main">
              <a:ext uri="{FF2B5EF4-FFF2-40B4-BE49-F238E27FC236}">
                <a16:creationId xmlns:a16="http://schemas.microsoft.com/office/drawing/2014/main" id="{9CF8E8E9-C876-46FD-89A5-C339EDB353A2}"/>
              </a:ext>
            </a:extLst>
          </p:cNvPr>
          <p:cNvSpPr>
            <a:spLocks xmlns:a="http://schemas.openxmlformats.org/drawingml/2006/main" noGrp="1"/>
          </p:cNvSpPr>
          <p:nvPr/>
        </p:nvSpPr>
        <p:spPr>
          <a:xfrm xmlns:a="http://schemas.openxmlformats.org/drawingml/2006/main">
            <a:off x="952500" y="362902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88" b="1">
                <a:solidFill>
                  <a:srgbClr val="625E57"/>
                </a:solidFill>
                <a:latin typeface="Arial"/>
                <a:ea typeface="Arial"/>
                <a:cs typeface="Arial"/>
              </a:defRPr>
            </a:pPr>
            <a:r>
              <a:rPr sz="1388" b="1">
                <a:solidFill>
                  <a:srgbClr val="625E57"/>
                </a:solidFill>
                <a:latin typeface="Arial"/>
                <a:ea typeface="Arial"/>
                <a:cs typeface="Arial"/>
              </a:rPr>
              <a:t>Correctness, timing, recovery</a:t>
            </a:r>
          </a:p>
          <a:p xmlns:a="http://schemas.openxmlformats.org/drawingml/2006/main">
            <a:pPr algn="ctr">
              <a:lnSpc>
                <a:spcPct val="110000"/>
              </a:lnSpc>
              <a:buNone/>
              <a:defRPr sz="1388" b="1">
                <a:solidFill>
                  <a:srgbClr val="625E57"/>
                </a:solidFill>
                <a:latin typeface="Arial"/>
                <a:ea typeface="Arial"/>
                <a:cs typeface="Arial"/>
              </a:defRPr>
            </a:pPr>
            <a:r>
              <a:rPr sz="1388" b="1">
                <a:solidFill>
                  <a:srgbClr val="625E57"/>
                </a:solidFill>
                <a:latin typeface="Arial"/>
                <a:ea typeface="Arial"/>
                <a:cs typeface="Arial"/>
              </a:rPr>
              <a:t>Frozen model</a:t>
            </a:r>
          </a:p>
        </p:txBody>
      </p:sp>
      <p:sp>
        <p:nvSpPr>
          <p:cNvPr id="11" name="">
            <a:extLst xmlns:a="http://schemas.openxmlformats.org/drawingml/2006/main">
              <a:ext uri="{FF2B5EF4-FFF2-40B4-BE49-F238E27FC236}">
                <a16:creationId xmlns:a16="http://schemas.microsoft.com/office/drawing/2014/main" id="{6A5875FF-A3BD-44CC-86D4-8FCC5BDB852E}"/>
              </a:ext>
            </a:extLst>
          </p:cNvPr>
          <p:cNvSpPr>
            <a:spLocks xmlns:a="http://schemas.openxmlformats.org/drawingml/2006/main" noGrp="1"/>
          </p:cNvSpPr>
          <p:nvPr/>
        </p:nvSpPr>
        <p:spPr>
          <a:xfrm xmlns:a="http://schemas.openxmlformats.org/drawingml/2006/main">
            <a:off x="4905375" y="19431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75" b="1">
                <a:solidFill>
                  <a:srgbClr val="8E6F3E"/>
                </a:solidFill>
                <a:latin typeface="Arial"/>
                <a:ea typeface="Arial"/>
                <a:cs typeface="Arial"/>
              </a:defRPr>
            </a:pPr>
            <a:r>
              <a:rPr sz="2175" b="1">
                <a:solidFill>
                  <a:srgbClr val="8E6F3E"/>
                </a:solidFill>
                <a:latin typeface="Arial"/>
                <a:ea typeface="Arial"/>
                <a:cs typeface="Arial"/>
              </a:rPr>
              <a:t>DEC 1</a:t>
            </a:r>
          </a:p>
        </p:txBody>
      </p:sp>
      <p:sp>
        <p:nvSpPr>
          <p:cNvPr id="12" name="">
            <a:extLst xmlns:a="http://schemas.openxmlformats.org/drawingml/2006/main">
              <a:ext uri="{FF2B5EF4-FFF2-40B4-BE49-F238E27FC236}">
                <a16:creationId xmlns:a16="http://schemas.microsoft.com/office/drawing/2014/main" id="{BF083747-8C5D-44F0-879D-5053292371FD}"/>
              </a:ext>
            </a:extLst>
          </p:cNvPr>
          <p:cNvSpPr>
            <a:spLocks xmlns:a="http://schemas.openxmlformats.org/drawingml/2006/main" noGrp="1"/>
          </p:cNvSpPr>
          <p:nvPr/>
        </p:nvSpPr>
        <p:spPr>
          <a:xfrm xmlns:a="http://schemas.openxmlformats.org/drawingml/2006/main">
            <a:off x="5972175" y="2533650"/>
            <a:ext cx="247650" cy="247650"/>
          </a:xfrm>
          <a:prstGeom xmlns:a="http://schemas.openxmlformats.org/drawingml/2006/main" prst="ellipse">
            <a:avLst/>
          </a:prstGeom>
          <a:solidFill xmlns:a="http://schemas.openxmlformats.org/drawingml/2006/main">
            <a:srgbClr val="151515"/>
          </a:solidFill>
          <a:ln xmlns:a="http://schemas.openxmlformats.org/drawingml/2006/main" w="38100">
            <a:solidFill>
              <a:srgbClr val="CFB991"/>
            </a:solidFill>
            <a:prstDash val="solid"/>
          </a:ln>
        </p:spPr>
      </p:sp>
      <p:sp>
        <p:nvSpPr>
          <p:cNvPr id="13" name="">
            <a:extLst xmlns:a="http://schemas.openxmlformats.org/drawingml/2006/main">
              <a:ext uri="{FF2B5EF4-FFF2-40B4-BE49-F238E27FC236}">
                <a16:creationId xmlns:a16="http://schemas.microsoft.com/office/drawing/2014/main" id="{F4E9FCA8-A22A-42AC-8D4E-A269D06CCB1A}"/>
              </a:ext>
            </a:extLst>
          </p:cNvPr>
          <p:cNvSpPr>
            <a:spLocks xmlns:a="http://schemas.openxmlformats.org/drawingml/2006/main" noGrp="1"/>
          </p:cNvSpPr>
          <p:nvPr/>
        </p:nvSpPr>
        <p:spPr>
          <a:xfrm xmlns:a="http://schemas.openxmlformats.org/drawingml/2006/main">
            <a:off x="4667250" y="3038475"/>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151515"/>
                </a:solidFill>
                <a:latin typeface="Arial"/>
                <a:ea typeface="Arial"/>
                <a:cs typeface="Arial"/>
              </a:defRPr>
            </a:pPr>
            <a:r>
              <a:rPr sz="1875" b="1">
                <a:solidFill>
                  <a:srgbClr val="151515"/>
                </a:solidFill>
                <a:latin typeface="Arial"/>
                <a:ea typeface="Arial"/>
                <a:cs typeface="Arial"/>
              </a:rPr>
              <a:t>Feedback A/B</a:t>
            </a:r>
          </a:p>
        </p:txBody>
      </p:sp>
      <p:sp>
        <p:nvSpPr>
          <p:cNvPr id="14" name="">
            <a:extLst xmlns:a="http://schemas.openxmlformats.org/drawingml/2006/main">
              <a:ext uri="{FF2B5EF4-FFF2-40B4-BE49-F238E27FC236}">
                <a16:creationId xmlns:a16="http://schemas.microsoft.com/office/drawing/2014/main" id="{A69BDD1D-8346-42B1-A85F-20E989A7F7E8}"/>
              </a:ext>
            </a:extLst>
          </p:cNvPr>
          <p:cNvSpPr>
            <a:spLocks xmlns:a="http://schemas.openxmlformats.org/drawingml/2006/main" noGrp="1"/>
          </p:cNvSpPr>
          <p:nvPr/>
        </p:nvSpPr>
        <p:spPr>
          <a:xfrm xmlns:a="http://schemas.openxmlformats.org/drawingml/2006/main">
            <a:off x="4572000" y="362902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88" b="1">
                <a:solidFill>
                  <a:srgbClr val="625E57"/>
                </a:solidFill>
                <a:latin typeface="Arial"/>
                <a:ea typeface="Arial"/>
                <a:cs typeface="Arial"/>
              </a:defRPr>
            </a:pPr>
            <a:r>
              <a:rPr sz="1388" b="1">
                <a:solidFill>
                  <a:srgbClr val="625E57"/>
                </a:solidFill>
                <a:latin typeface="Arial"/>
                <a:ea typeface="Arial"/>
                <a:cs typeface="Arial"/>
              </a:rPr>
              <a:t>Matched model, tasks, attempts</a:t>
            </a:r>
          </a:p>
          <a:p xmlns:a="http://schemas.openxmlformats.org/drawingml/2006/main">
            <a:pPr algn="ctr">
              <a:lnSpc>
                <a:spcPct val="110000"/>
              </a:lnSpc>
              <a:buNone/>
              <a:defRPr sz="1388" b="1">
                <a:solidFill>
                  <a:srgbClr val="625E57"/>
                </a:solidFill>
                <a:latin typeface="Arial"/>
                <a:ea typeface="Arial"/>
                <a:cs typeface="Arial"/>
              </a:defRPr>
            </a:pPr>
            <a:r>
              <a:rPr sz="1388" b="1">
                <a:solidFill>
                  <a:srgbClr val="625E57"/>
                </a:solidFill>
                <a:latin typeface="Arial"/>
                <a:ea typeface="Arial"/>
                <a:cs typeface="Arial"/>
              </a:rPr>
              <a:t>Correct-only speedups and cost</a:t>
            </a:r>
          </a:p>
        </p:txBody>
      </p:sp>
      <p:sp>
        <p:nvSpPr>
          <p:cNvPr id="15" name="">
            <a:extLst xmlns:a="http://schemas.openxmlformats.org/drawingml/2006/main">
              <a:ext uri="{FF2B5EF4-FFF2-40B4-BE49-F238E27FC236}">
                <a16:creationId xmlns:a16="http://schemas.microsoft.com/office/drawing/2014/main" id="{1C0BF4D8-D3B0-42D1-AB59-4BD92B057722}"/>
              </a:ext>
            </a:extLst>
          </p:cNvPr>
          <p:cNvSpPr>
            <a:spLocks xmlns:a="http://schemas.openxmlformats.org/drawingml/2006/main" noGrp="1"/>
          </p:cNvSpPr>
          <p:nvPr/>
        </p:nvSpPr>
        <p:spPr>
          <a:xfrm xmlns:a="http://schemas.openxmlformats.org/drawingml/2006/main">
            <a:off x="8524875" y="19431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75" b="1">
                <a:solidFill>
                  <a:srgbClr val="8E6F3E"/>
                </a:solidFill>
                <a:latin typeface="Arial"/>
                <a:ea typeface="Arial"/>
                <a:cs typeface="Arial"/>
              </a:defRPr>
            </a:pPr>
            <a:r>
              <a:rPr sz="2175" b="1">
                <a:solidFill>
                  <a:srgbClr val="8E6F3E"/>
                </a:solidFill>
                <a:latin typeface="Arial"/>
                <a:ea typeface="Arial"/>
                <a:cs typeface="Arial"/>
              </a:rPr>
              <a:t>DEC 15</a:t>
            </a:r>
          </a:p>
        </p:txBody>
      </p:sp>
      <p:sp>
        <p:nvSpPr>
          <p:cNvPr id="16" name="">
            <a:extLst xmlns:a="http://schemas.openxmlformats.org/drawingml/2006/main">
              <a:ext uri="{FF2B5EF4-FFF2-40B4-BE49-F238E27FC236}">
                <a16:creationId xmlns:a16="http://schemas.microsoft.com/office/drawing/2014/main" id="{876D8257-2D39-4461-B224-0DE12478F7B2}"/>
              </a:ext>
            </a:extLst>
          </p:cNvPr>
          <p:cNvSpPr>
            <a:spLocks xmlns:a="http://schemas.openxmlformats.org/drawingml/2006/main" noGrp="1"/>
          </p:cNvSpPr>
          <p:nvPr/>
        </p:nvSpPr>
        <p:spPr>
          <a:xfrm xmlns:a="http://schemas.openxmlformats.org/drawingml/2006/main">
            <a:off x="9591675" y="2533650"/>
            <a:ext cx="247650" cy="247650"/>
          </a:xfrm>
          <a:prstGeom xmlns:a="http://schemas.openxmlformats.org/drawingml/2006/main" prst="ellipse">
            <a:avLst/>
          </a:prstGeom>
          <a:solidFill xmlns:a="http://schemas.openxmlformats.org/drawingml/2006/main">
            <a:srgbClr val="151515"/>
          </a:solidFill>
          <a:ln xmlns:a="http://schemas.openxmlformats.org/drawingml/2006/main" w="38100">
            <a:solidFill>
              <a:srgbClr val="CFB991"/>
            </a:solidFill>
            <a:prstDash val="solid"/>
          </a:ln>
        </p:spPr>
      </p:sp>
      <p:sp>
        <p:nvSpPr>
          <p:cNvPr id="17" name="">
            <a:extLst xmlns:a="http://schemas.openxmlformats.org/drawingml/2006/main">
              <a:ext uri="{FF2B5EF4-FFF2-40B4-BE49-F238E27FC236}">
                <a16:creationId xmlns:a16="http://schemas.microsoft.com/office/drawing/2014/main" id="{EFDBB2B8-F218-40F0-8465-3DBF8682F2D3}"/>
              </a:ext>
            </a:extLst>
          </p:cNvPr>
          <p:cNvSpPr>
            <a:spLocks xmlns:a="http://schemas.openxmlformats.org/drawingml/2006/main" noGrp="1"/>
          </p:cNvSpPr>
          <p:nvPr/>
        </p:nvSpPr>
        <p:spPr>
          <a:xfrm xmlns:a="http://schemas.openxmlformats.org/drawingml/2006/main">
            <a:off x="8286750" y="3038475"/>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151515"/>
                </a:solidFill>
                <a:latin typeface="Arial"/>
                <a:ea typeface="Arial"/>
                <a:cs typeface="Arial"/>
              </a:defRPr>
            </a:pPr>
            <a:r>
              <a:rPr sz="1875" b="1">
                <a:solidFill>
                  <a:srgbClr val="151515"/>
                </a:solidFill>
                <a:latin typeface="Arial"/>
                <a:ea typeface="Arial"/>
                <a:cs typeface="Arial"/>
              </a:rPr>
              <a:t>Final</a:t>
            </a:r>
          </a:p>
        </p:txBody>
      </p:sp>
      <p:sp>
        <p:nvSpPr>
          <p:cNvPr id="18" name="">
            <a:extLst xmlns:a="http://schemas.openxmlformats.org/drawingml/2006/main">
              <a:ext uri="{FF2B5EF4-FFF2-40B4-BE49-F238E27FC236}">
                <a16:creationId xmlns:a16="http://schemas.microsoft.com/office/drawing/2014/main" id="{EE293644-ED76-412B-ABF6-45D0D5823084}"/>
              </a:ext>
            </a:extLst>
          </p:cNvPr>
          <p:cNvSpPr>
            <a:spLocks xmlns:a="http://schemas.openxmlformats.org/drawingml/2006/main" noGrp="1"/>
          </p:cNvSpPr>
          <p:nvPr/>
        </p:nvSpPr>
        <p:spPr>
          <a:xfrm xmlns:a="http://schemas.openxmlformats.org/drawingml/2006/main">
            <a:off x="8191500" y="362902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88" b="1">
                <a:solidFill>
                  <a:srgbClr val="625E57"/>
                </a:solidFill>
                <a:latin typeface="Arial"/>
                <a:ea typeface="Arial"/>
                <a:cs typeface="Arial"/>
              </a:defRPr>
            </a:pPr>
            <a:r>
              <a:rPr sz="1388" b="1">
                <a:solidFill>
                  <a:srgbClr val="625E57"/>
                </a:solidFill>
                <a:latin typeface="Arial"/>
                <a:ea typeface="Arial"/>
                <a:cs typeface="Arial"/>
              </a:rPr>
              <a:t>Code, findings, recommendation</a:t>
            </a:r>
          </a:p>
        </p:txBody>
      </p:sp>
      <p:sp>
        <p:nvSpPr>
          <p:cNvPr id="19" name="">
            <a:extLst xmlns:a="http://schemas.openxmlformats.org/drawingml/2006/main">
              <a:ext uri="{FF2B5EF4-FFF2-40B4-BE49-F238E27FC236}">
                <a16:creationId xmlns:a16="http://schemas.microsoft.com/office/drawing/2014/main" id="{9672ED7B-AB13-4C1C-9349-426BF402377A}"/>
              </a:ext>
            </a:extLst>
          </p:cNvPr>
          <p:cNvSpPr>
            <a:spLocks xmlns:a="http://schemas.openxmlformats.org/drawingml/2006/main" noGrp="1"/>
          </p:cNvSpPr>
          <p:nvPr/>
        </p:nvSpPr>
        <p:spPr>
          <a:xfrm xmlns:a="http://schemas.openxmlformats.org/drawingml/2006/main">
            <a:off x="0" y="5600700"/>
            <a:ext cx="12192000" cy="1257300"/>
          </a:xfrm>
          <a:prstGeom xmlns:a="http://schemas.openxmlformats.org/drawingml/2006/main" prst="rect">
            <a:avLst/>
          </a:prstGeom>
          <a:solidFill xmlns:a="http://schemas.openxmlformats.org/drawingml/2006/main">
            <a:srgbClr val="151515"/>
          </a:solidFill>
          <a:ln xmlns:a="http://schemas.openxmlformats.org/drawingml/2006/main" w="0">
            <a:noFill/>
          </a:ln>
        </p:spPr>
        <p:txBody>
          <a:bodyPr xmlns:a="http://schemas.openxmlformats.org/drawingml/2006/main" wrap="square" lIns="476250" tIns="171450" rIns="476250" bIns="95250" anchor="ctr">
            <a:noAutofit/>
          </a:bodyPr>
          <a:lstStyle xmlns:a="http://schemas.openxmlformats.org/drawingml/2006/main"/>
          <a:p xmlns:a="http://schemas.openxmlformats.org/drawingml/2006/main">
            <a:pPr algn="ctr">
              <a:lnSpc>
                <a:spcPct val="105000"/>
              </a:lnSpc>
              <a:buNone/>
              <a:defRPr sz="1800">
                <a:solidFill>
                  <a:srgbClr val="FFFFFF"/>
                </a:solidFill>
                <a:latin typeface="Arial"/>
                <a:ea typeface="Arial"/>
                <a:cs typeface="Arial"/>
              </a:defRPr>
            </a:pPr>
            <a:r>
              <a:rPr sz="1800" b="1">
                <a:solidFill>
                  <a:srgbClr val="FFFFFF"/>
                </a:solidFill>
                <a:latin typeface="Arial"/>
                <a:ea typeface="Arial"/>
                <a:cs typeface="Arial"/>
              </a:rPr>
              <a:t>GO / NO-GO</a:t>
            </a:r>
          </a:p>
          <a:p xmlns:a="http://schemas.openxmlformats.org/drawingml/2006/main">
            <a:pPr algn="ctr">
              <a:lnSpc>
                <a:spcPct val="105000"/>
              </a:lnSpc>
              <a:buNone/>
              <a:defRPr sz="1800">
                <a:solidFill>
                  <a:srgbClr val="FFFFFF"/>
                </a:solidFill>
                <a:latin typeface="Arial"/>
                <a:ea typeface="Arial"/>
                <a:cs typeface="Arial"/>
              </a:defRPr>
            </a:pPr>
            <a:r>
              <a:rPr sz="1800" b="1">
                <a:solidFill>
                  <a:srgbClr val="FFFFFF"/>
                </a:solidFill>
                <a:latin typeface="Arial"/>
                <a:ea typeface="Arial"/>
                <a:cs typeface="Arial"/>
              </a:rPr>
              <a:t>Run small RL only if evaluator reliable, trajectories useful, throughput affordable.</a:t>
            </a:r>
          </a:p>
        </p:txBody>
      </p:sp>
    </p:spTree>
    <p:extLst>
      <p:ext uri="{BB962C8B-B14F-4D97-AF65-F5344CB8AC3E}">
        <p14:creationId xmlns:p14="http://schemas.microsoft.com/office/powerpoint/2010/main" val="12610424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2026-10-05T15:31:33.0290000Z</dcterms:created>
  <dcterms:modified xsi:type="dcterms:W3CDTF">2026-10-05T15:31:33.0290000Z</dcterms:modified>
</coreProperties>
</file>